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12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5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1.xml.rels" ContentType="application/vnd.openxmlformats-package.relationship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2.xml" ContentType="application/vnd.openxmlformats-officedocument.presentationml.slideLayout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11.xml.rels" ContentType="application/vnd.openxmlformats-package.relationships+xml"/>
  <Override PartName="/ppt/slides/_rels/slide9.xml.rels" ContentType="application/vnd.openxmlformats-package.relationships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0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1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1.png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2.png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2.png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3.png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4.pn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7400" cy="4524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ru-R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7400" cy="4524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ru-R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6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04365299-DC07-4333-8A4C-394AE65A568E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200" cy="638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ru-R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200" cy="3950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ru-R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0640" cy="638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ru-R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0640" cy="3950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ru-R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6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7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8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4DA5F8BC-63FF-4A01-88E3-FBE511F11E14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58BFDB39-BA68-419F-BB70-6D9DC0A9517D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E508FBA3-BB21-47F4-9209-E1E255AD4418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360" cy="114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36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ru-R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080" cy="116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0560" cy="585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ru-R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080" cy="4690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PlaceHolder 6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7D26FC0C-1775-434A-BCF1-DE88077D8839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5320" cy="56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5320" cy="4113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5320" cy="803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4B97B01E-57E2-454D-BC67-3AB44618CCF4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1320" cy="1468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D50D3516-1D3D-4787-90D8-5A0EF45BB3FB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520" cy="4524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ru-R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1FD5FC4F-5046-40FF-A598-BB945D637D60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6320" cy="585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8840" cy="585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ru-R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962669F1-E483-4A7B-A551-5A81770E0B17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520" cy="4524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ru-R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114830D0-E367-4BEC-9775-B146835A4FB0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1320" cy="1361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trike="noStrike" u="non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ru-RU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1320" cy="1499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1E39AE64-2CD6-4BEB-9E5B-1DFC15F13B4B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_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body"/>
          </p:nvPr>
        </p:nvSpPr>
        <p:spPr>
          <a:xfrm>
            <a:off x="366480" y="3815280"/>
            <a:ext cx="8065080" cy="72432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Autofit/>
          </a:bodyPr>
          <a:p>
            <a:pPr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4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Company &amp; Position</a:t>
            </a:r>
            <a:endParaRPr b="0" lang="ru-RU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title"/>
          </p:nvPr>
        </p:nvSpPr>
        <p:spPr>
          <a:xfrm>
            <a:off x="366480" y="432360"/>
            <a:ext cx="8065080" cy="194292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b">
            <a:noAutofit/>
          </a:bodyPr>
          <a:p>
            <a:pPr indent="0" defTabSz="914400">
              <a:lnSpc>
                <a:spcPct val="110000"/>
              </a:lnSpc>
              <a:buNone/>
              <a:tabLst>
                <a:tab algn="l" pos="0"/>
              </a:tabLst>
            </a:pPr>
            <a:r>
              <a:rPr b="1" lang="ru-RU" sz="48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This is my story about how I created this app</a:t>
            </a:r>
            <a:endParaRPr b="0" lang="ru-RU" sz="4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and Content 0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356040" y="219600"/>
            <a:ext cx="10690560" cy="67860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Autofit/>
          </a:bodyPr>
          <a:p>
            <a:pPr indent="0" defTabSz="914400">
              <a:lnSpc>
                <a:spcPct val="92000"/>
              </a:lnSpc>
              <a:buNone/>
              <a:tabLst>
                <a:tab algn="l" pos="0"/>
              </a:tabLst>
            </a:pPr>
            <a:r>
              <a:rPr b="1" lang="ru-RU" sz="48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Click to add title.  Generic slide</a:t>
            </a:r>
            <a:endParaRPr b="0" lang="ru-RU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356040" y="1220400"/>
            <a:ext cx="10690560" cy="528228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Autofit/>
          </a:bodyPr>
          <a:p>
            <a:pPr marL="180000" indent="-180000" defTabSz="9144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Put your content here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sldNum" idx="34"/>
          </p:nvPr>
        </p:nvSpPr>
        <p:spPr>
          <a:xfrm>
            <a:off x="11621520" y="388080"/>
            <a:ext cx="266040" cy="25812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algn="l" pos="0"/>
              </a:tabLst>
              <a:defRPr b="0" lang="ru-RU" sz="1800" strike="noStrike" u="none">
                <a:solidFill>
                  <a:srgbClr val="838383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fld id="{61F31B60-54EF-45AE-A169-959581AF7974}" type="slidenum">
              <a:rPr b="0" lang="ru-RU" sz="1800" strike="noStrike" u="none">
                <a:solidFill>
                  <a:srgbClr val="838383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ru-RU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and code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356040" y="219600"/>
            <a:ext cx="10690560" cy="67860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Autofit/>
          </a:bodyPr>
          <a:p>
            <a:pPr indent="0" defTabSz="914400">
              <a:lnSpc>
                <a:spcPct val="92000"/>
              </a:lnSpc>
              <a:buNone/>
              <a:tabLst>
                <a:tab algn="l" pos="0"/>
              </a:tabLst>
            </a:pPr>
            <a:r>
              <a:rPr b="1" lang="ru-RU" sz="48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Click to add title. Use for code</a:t>
            </a:r>
            <a:endParaRPr b="0" lang="ru-RU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 type="sldNum" idx="35"/>
          </p:nvPr>
        </p:nvSpPr>
        <p:spPr>
          <a:xfrm>
            <a:off x="11621520" y="388080"/>
            <a:ext cx="266040" cy="25812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algn="l" pos="0"/>
              </a:tabLst>
              <a:defRPr b="0" lang="ru-RU" sz="1800" strike="noStrike" u="none">
                <a:solidFill>
                  <a:srgbClr val="838383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fld id="{B026AC00-2FB4-4FAC-8F12-6312B4984E06}" type="slidenum">
              <a:rPr b="0" lang="ru-RU" sz="1800" strike="noStrike" u="none">
                <a:solidFill>
                  <a:srgbClr val="838383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ru-RU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 type="body"/>
          </p:nvPr>
        </p:nvSpPr>
        <p:spPr>
          <a:xfrm>
            <a:off x="356040" y="1220400"/>
            <a:ext cx="10690560" cy="491292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Autofit/>
          </a:bodyPr>
          <a:p>
            <a:pPr indent="0" defTabSz="914400">
              <a:lnSpc>
                <a:spcPct val="110000"/>
              </a:lnSpc>
              <a:buNone/>
              <a:tabLst>
                <a:tab algn="l" pos="0"/>
              </a:tabLst>
            </a:pPr>
            <a:r>
              <a:rPr b="0" lang="ru-RU" sz="28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// Paste your code snippet here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10000"/>
              </a:lnSpc>
              <a:buNone/>
              <a:tabLst>
                <a:tab algn="l" pos="0"/>
              </a:tabLst>
            </a:pP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10000"/>
              </a:lnSpc>
              <a:buNone/>
              <a:tabLst>
                <a:tab algn="l" pos="0"/>
              </a:tabLst>
            </a:pP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10000"/>
              </a:lnSpc>
              <a:buNone/>
              <a:tabLst>
                <a:tab algn="l" pos="0"/>
              </a:tabLst>
            </a:pP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10000"/>
              </a:lnSpc>
              <a:buNone/>
              <a:tabLst>
                <a:tab algn="l" pos="0"/>
              </a:tabLst>
            </a:pP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Section Header_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1719000" y="1445400"/>
            <a:ext cx="8276040" cy="135792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 anchorCtr="1">
            <a:noAutofit/>
          </a:bodyPr>
          <a:p>
            <a:pPr indent="0" defTabSz="914400">
              <a:lnSpc>
                <a:spcPct val="92000"/>
              </a:lnSpc>
              <a:buNone/>
              <a:tabLst>
                <a:tab algn="l" pos="0"/>
              </a:tabLst>
            </a:pPr>
            <a:r>
              <a:rPr b="1" lang="ru-RU" sz="48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Click to add section separator</a:t>
            </a:r>
            <a:endParaRPr b="0" lang="ru-RU" sz="4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body"/>
          </p:nvPr>
        </p:nvSpPr>
        <p:spPr>
          <a:xfrm>
            <a:off x="1719000" y="3048120"/>
            <a:ext cx="8276040" cy="143712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 anchorCtr="1">
            <a:noAutofit/>
          </a:bodyPr>
          <a:p>
            <a:pPr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4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Any subfooter here</a:t>
            </a:r>
            <a:endParaRPr b="0" lang="ru-RU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Final Slide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884880" y="1041120"/>
            <a:ext cx="5839560" cy="169776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92000"/>
              </a:lnSpc>
              <a:buNone/>
              <a:tabLst>
                <a:tab algn="l" pos="0"/>
              </a:tabLst>
            </a:pPr>
            <a:r>
              <a:rPr b="1" lang="ru-RU" sz="60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Please leave your feedback</a:t>
            </a:r>
            <a:endParaRPr b="0" lang="ru-RU" sz="6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 type="body"/>
          </p:nvPr>
        </p:nvSpPr>
        <p:spPr>
          <a:xfrm>
            <a:off x="884880" y="3318840"/>
            <a:ext cx="5839560" cy="130680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Autofit/>
          </a:bodyPr>
          <a:p>
            <a:pPr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4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Author NameCompany &amp; Position</a:t>
            </a:r>
            <a:endParaRPr b="0" lang="ru-RU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" name="Right Arrow 40"/>
          <p:cNvSpPr/>
          <p:nvPr/>
        </p:nvSpPr>
        <p:spPr>
          <a:xfrm>
            <a:off x="7183080" y="1563120"/>
            <a:ext cx="1321200" cy="65376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tx1"/>
          </a:solidFill>
          <a:ln w="12700">
            <a:solidFill>
              <a:srgbClr val="f876b8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>
              <a:lnSpc>
                <a:spcPct val="100000"/>
              </a:lnSpc>
            </a:pP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 type="body"/>
          </p:nvPr>
        </p:nvSpPr>
        <p:spPr>
          <a:xfrm>
            <a:off x="8962560" y="839880"/>
            <a:ext cx="2101320" cy="210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2"/>
    <p:sldLayoutId id="2147483662" r:id="rId3"/>
    <p:sldLayoutId id="2147483663" r:id="rId4"/>
    <p:sldLayoutId id="2147483664" r:id="rId5"/>
    <p:sldLayoutId id="2147483665" r:id="rId6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hyperlink" Target="https://github.com/vamplabai/sgr-agent-core" TargetMode="External"/><Relationship Id="rId2" Type="http://schemas.openxmlformats.org/officeDocument/2006/relationships/slideLayout" Target="../slideLayouts/slideLayout1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6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/>
          </p:nvPr>
        </p:nvSpPr>
        <p:spPr>
          <a:xfrm>
            <a:off x="366480" y="3815280"/>
            <a:ext cx="8065080" cy="72432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Autofit/>
          </a:bodyPr>
          <a:p>
            <a:pPr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ru-RU" sz="32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Рыков Павел</a:t>
            </a:r>
            <a:br>
              <a:rPr sz="3200"/>
            </a:br>
            <a:r>
              <a:rPr b="1" lang="ru-RU" sz="32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Росгосстрах</a:t>
            </a:r>
            <a:endParaRPr b="0" lang="ru-RU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 type="title"/>
          </p:nvPr>
        </p:nvSpPr>
        <p:spPr>
          <a:xfrm>
            <a:off x="366480" y="432360"/>
            <a:ext cx="8065080" cy="194292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b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6000" strike="noStrike" u="none">
                <a:solidFill>
                  <a:schemeClr val="lt1"/>
                </a:solidFill>
                <a:effectLst/>
                <a:uFillTx/>
                <a:latin typeface="Calibri"/>
                <a:ea typeface="Arial"/>
              </a:rPr>
              <a:t>SGR Agent Core</a:t>
            </a:r>
            <a:br>
              <a:rPr sz="6000"/>
            </a:br>
            <a:r>
              <a:rPr b="1" lang="en-US" sz="6000" strike="noStrike" u="none">
                <a:solidFill>
                  <a:schemeClr val="lt1"/>
                </a:solidFill>
                <a:effectLst/>
                <a:uFillTx/>
                <a:latin typeface="Calibri"/>
                <a:ea typeface="Arial"/>
              </a:rPr>
              <a:t>Мастер-класс</a:t>
            </a:r>
            <a:endParaRPr b="0" lang="ru-RU" sz="6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5" name="" descr=""/>
          <p:cNvPicPr/>
          <p:nvPr/>
        </p:nvPicPr>
        <p:blipFill>
          <a:blip r:embed="rId1"/>
          <a:stretch/>
        </p:blipFill>
        <p:spPr>
          <a:xfrm>
            <a:off x="3420000" y="2606400"/>
            <a:ext cx="6801840" cy="42508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356040" y="219600"/>
            <a:ext cx="10690560" cy="67860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Autofit/>
          </a:bodyPr>
          <a:p>
            <a:pPr indent="0" defTabSz="914400">
              <a:lnSpc>
                <a:spcPct val="92000"/>
              </a:lnSpc>
              <a:buNone/>
              <a:tabLst>
                <a:tab algn="l" pos="0"/>
              </a:tabLst>
            </a:pPr>
            <a:r>
              <a:rPr b="1" lang="ru-RU" sz="4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Программа мастер-класса</a:t>
            </a:r>
            <a:endParaRPr b="0" lang="ru-RU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/>
          </p:nvPr>
        </p:nvSpPr>
        <p:spPr>
          <a:xfrm>
            <a:off x="356040" y="1220400"/>
            <a:ext cx="10690560" cy="528228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Autofit/>
          </a:bodyPr>
          <a:p>
            <a:pPr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ru-RU" sz="2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0. Вступление</a:t>
            </a:r>
            <a:endParaRPr b="0" lang="ru-RU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ru-RU" sz="2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1. Что такое SGR Agent Core</a:t>
            </a:r>
            <a:endParaRPr b="0" lang="ru-RU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ru-RU" sz="2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2. Архитектура API сервера</a:t>
            </a:r>
            <a:endParaRPr b="0" lang="ru-RU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ru-RU" sz="2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3. Конфигурация YAML и типы агентов</a:t>
            </a:r>
            <a:endParaRPr b="0" lang="ru-RU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ru-RU" sz="2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4. Подготовка окружения</a:t>
            </a:r>
            <a:endParaRPr b="0" lang="ru-RU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ru-RU" sz="2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5. Практика: Deep Research</a:t>
            </a:r>
            <a:endParaRPr b="0" lang="ru-RU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ru-RU" sz="2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6. Практика: Файловый агент</a:t>
            </a:r>
            <a:endParaRPr b="0" lang="ru-RU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ru-RU" sz="2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7. Метрики, тесты, Langfuse</a:t>
            </a:r>
            <a:endParaRPr b="0" lang="ru-RU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ru-RU" sz="2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8. Домашнее задание</a:t>
            </a:r>
            <a:endParaRPr b="0" lang="ru-RU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ru-RU" sz="2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9. Завершение и Roadmap</a:t>
            </a:r>
            <a:endParaRPr b="0" lang="ru-RU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PlaceHolder 3"/>
          <p:cNvSpPr>
            <a:spLocks noGrp="1"/>
          </p:cNvSpPr>
          <p:nvPr>
            <p:ph type="sldNum" idx="36"/>
          </p:nvPr>
        </p:nvSpPr>
        <p:spPr>
          <a:xfrm>
            <a:off x="11676240" y="388080"/>
            <a:ext cx="156600" cy="25812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ctr">
            <a:normAutofit lnSpcReduction="9999"/>
          </a:bodyPr>
          <a:lstStyle>
            <a:lvl1pPr indent="0" algn="ctr" defTabSz="457200">
              <a:lnSpc>
                <a:spcPct val="100000"/>
              </a:lnSpc>
              <a:buNone/>
              <a:tabLst>
                <a:tab algn="l" pos="0"/>
              </a:tabLst>
              <a:defRPr b="0" lang="ru-RU" sz="1800" strike="noStrike" u="none">
                <a:solidFill>
                  <a:srgbClr val="838383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fld id="{C54AA59D-F81F-4771-8E25-9EA83BD3566D}" type="slidenum">
              <a:rPr b="0" lang="ru-RU" sz="1800" strike="noStrike" u="none">
                <a:solidFill>
                  <a:srgbClr val="838383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ru-RU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356040" y="219600"/>
            <a:ext cx="10690560" cy="67860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Autofit/>
          </a:bodyPr>
          <a:p>
            <a:pPr indent="0" defTabSz="914400">
              <a:lnSpc>
                <a:spcPct val="92000"/>
              </a:lnSpc>
              <a:buNone/>
              <a:tabLst>
                <a:tab algn="l" pos="0"/>
              </a:tabLst>
            </a:pPr>
            <a:r>
              <a:rPr b="1" lang="ru-RU" sz="4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0. Вступление</a:t>
            </a:r>
            <a:endParaRPr b="0" lang="ru-RU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 type="sldNum" idx="37"/>
          </p:nvPr>
        </p:nvSpPr>
        <p:spPr>
          <a:xfrm>
            <a:off x="11685240" y="388080"/>
            <a:ext cx="138600" cy="25812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ctr">
            <a:normAutofit lnSpcReduction="9999"/>
          </a:bodyPr>
          <a:lstStyle>
            <a:lvl1pPr indent="0" algn="ctr" defTabSz="457200">
              <a:lnSpc>
                <a:spcPct val="100000"/>
              </a:lnSpc>
              <a:buNone/>
              <a:tabLst>
                <a:tab algn="l" pos="0"/>
              </a:tabLst>
              <a:defRPr b="0" lang="ru-RU" sz="1800" strike="noStrike" u="none">
                <a:solidFill>
                  <a:srgbClr val="838383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fld id="{E2A14CF2-3C10-49B0-BECD-855231B8173F}" type="slidenum">
              <a:rPr b="0" lang="ru-RU" sz="1800" strike="noStrike" u="none">
                <a:solidFill>
                  <a:srgbClr val="838383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ru-RU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356040" y="1220400"/>
            <a:ext cx="10690560" cy="491292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Autofit/>
          </a:bodyPr>
          <a:p>
            <a:pPr indent="0" defTabSz="914400">
              <a:lnSpc>
                <a:spcPct val="110000"/>
              </a:lnSpc>
              <a:buNone/>
              <a:tabLst>
                <a:tab algn="l" pos="0"/>
              </a:tabLst>
            </a:pPr>
            <a:r>
              <a:rPr b="0" lang="ru-RU" sz="24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Что понадобится:</a:t>
            </a:r>
            <a:endParaRPr b="0" lang="ru-R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10000"/>
              </a:lnSpc>
              <a:buNone/>
              <a:tabLst>
                <a:tab algn="l" pos="0"/>
              </a:tabLst>
            </a:pPr>
            <a:r>
              <a:rPr b="0" lang="ru-RU" sz="24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- Python 3.11+ и/или Docker</a:t>
            </a:r>
            <a:endParaRPr b="0" lang="ru-R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10000"/>
              </a:lnSpc>
              <a:buNone/>
              <a:tabLst>
                <a:tab algn="l" pos="0"/>
              </a:tabLst>
            </a:pPr>
            <a:r>
              <a:rPr b="0" lang="ru-RU" sz="24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- Git</a:t>
            </a:r>
            <a:endParaRPr b="0" lang="ru-R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10000"/>
              </a:lnSpc>
              <a:buNone/>
              <a:tabLst>
                <a:tab algn="l" pos="0"/>
              </a:tabLst>
            </a:pPr>
            <a:r>
              <a:rPr b="0" lang="ru-RU" sz="24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- API-ключ с моделью поддерживающей Sturctured Output</a:t>
            </a:r>
            <a:endParaRPr b="0" lang="ru-R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10000"/>
              </a:lnSpc>
              <a:buNone/>
              <a:tabLst>
                <a:tab algn="l" pos="0"/>
              </a:tabLst>
            </a:pPr>
            <a:r>
              <a:rPr b="0" lang="ru-RU" sz="24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 </a:t>
            </a:r>
            <a:endParaRPr b="0" lang="ru-R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10000"/>
              </a:lnSpc>
              <a:buNone/>
              <a:tabLst>
                <a:tab algn="l" pos="0"/>
              </a:tabLst>
            </a:pPr>
            <a:r>
              <a:rPr b="0" lang="ru-RU" sz="24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Материалы:</a:t>
            </a:r>
            <a:endParaRPr b="0" lang="ru-R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10000"/>
              </a:lnSpc>
              <a:buNone/>
              <a:tabLst>
                <a:tab algn="l" pos="0"/>
              </a:tabLst>
            </a:pPr>
            <a:r>
              <a:rPr b="0" lang="ru-RU" sz="24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- </a:t>
            </a:r>
            <a:r>
              <a:rPr b="0" lang="ru-RU" sz="24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  <a:hlinkClick r:id="rId1"/>
              </a:rPr>
              <a:t>https://github.com/vamplabai/sgr-agent-core</a:t>
            </a:r>
            <a:endParaRPr b="0" lang="ru-R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10000"/>
              </a:lnSpc>
              <a:buNone/>
              <a:tabLst>
                <a:tab algn="l" pos="0"/>
              </a:tabLst>
            </a:pPr>
            <a:r>
              <a:rPr b="0" lang="ru-RU" sz="24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 </a:t>
            </a:r>
            <a:endParaRPr b="0" lang="ru-R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10000"/>
              </a:lnSpc>
              <a:buNone/>
              <a:tabLst>
                <a:tab algn="l" pos="0"/>
              </a:tabLst>
            </a:pPr>
            <a:r>
              <a:rPr b="0" lang="ru-RU" sz="24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По итогу получим:</a:t>
            </a:r>
            <a:endParaRPr b="0" lang="ru-R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10000"/>
              </a:lnSpc>
              <a:buNone/>
              <a:tabLst>
                <a:tab algn="l" pos="0"/>
              </a:tabLst>
            </a:pPr>
            <a:r>
              <a:rPr b="0" lang="ru-RU" sz="24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- локальный файловый агент</a:t>
            </a:r>
            <a:endParaRPr b="0" lang="ru-R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10000"/>
              </a:lnSpc>
              <a:buNone/>
              <a:tabLst>
                <a:tab algn="l" pos="0"/>
              </a:tabLst>
            </a:pPr>
            <a:r>
              <a:rPr b="0" lang="ru-RU" sz="24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- HTTP API</a:t>
            </a:r>
            <a:endParaRPr b="0" lang="ru-R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10000"/>
              </a:lnSpc>
              <a:buNone/>
              <a:tabLst>
                <a:tab algn="l" pos="0"/>
              </a:tabLst>
            </a:pPr>
            <a:r>
              <a:rPr b="0" lang="ru-RU" sz="24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- ACP интегрированный в Obsidian</a:t>
            </a:r>
            <a:endParaRPr b="0" lang="ru-R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356040" y="219600"/>
            <a:ext cx="10690560" cy="67860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Autofit/>
          </a:bodyPr>
          <a:p>
            <a:pPr indent="0" defTabSz="914400">
              <a:lnSpc>
                <a:spcPct val="92000"/>
              </a:lnSpc>
              <a:buNone/>
              <a:tabLst>
                <a:tab algn="l" pos="0"/>
              </a:tabLst>
            </a:pPr>
            <a:r>
              <a:rPr b="1" lang="ru-RU" sz="48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1. Что такое SGR Agent Core</a:t>
            </a:r>
            <a:endParaRPr b="0" lang="ru-RU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sldNum" idx="38"/>
          </p:nvPr>
        </p:nvSpPr>
        <p:spPr>
          <a:xfrm>
            <a:off x="11685240" y="388080"/>
            <a:ext cx="138600" cy="25812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ctr">
            <a:normAutofit lnSpcReduction="9999"/>
          </a:bodyPr>
          <a:lstStyle>
            <a:lvl1pPr indent="0" algn="ctr" defTabSz="457200">
              <a:lnSpc>
                <a:spcPct val="100000"/>
              </a:lnSpc>
              <a:buNone/>
              <a:tabLst>
                <a:tab algn="l" pos="0"/>
              </a:tabLst>
              <a:defRPr b="0" lang="ru-RU" sz="1800" strike="noStrike" u="none">
                <a:solidFill>
                  <a:srgbClr val="838383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fld id="{DBCBFEBA-6CB5-4C5A-ABA1-C900C06E8090}" type="slidenum">
              <a:rPr b="0" lang="ru-RU" sz="1800" strike="noStrike" u="none">
                <a:solidFill>
                  <a:srgbClr val="838383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ru-RU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356040" y="1220400"/>
            <a:ext cx="10690560" cy="491292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Autofit/>
          </a:bodyPr>
          <a:p>
            <a:pPr indent="0" defTabSz="914400">
              <a:lnSpc>
                <a:spcPct val="110000"/>
              </a:lnSpc>
              <a:spcBef>
                <a:spcPts val="850"/>
              </a:spcBef>
              <a:buNone/>
              <a:tabLst>
                <a:tab algn="l" pos="0"/>
              </a:tabLst>
            </a:pPr>
            <a:r>
              <a:rPr b="0" lang="ru-RU" sz="24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Schema Guided Reasoning и явные шаги рассуждения</a:t>
            </a:r>
            <a:endParaRPr b="0" lang="ru-R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10000"/>
              </a:lnSpc>
              <a:spcBef>
                <a:spcPts val="850"/>
              </a:spcBef>
              <a:buNone/>
              <a:tabLst>
                <a:tab algn="l" pos="0"/>
              </a:tabLst>
            </a:pPr>
            <a:r>
              <a:rPr b="0" lang="ru-RU" sz="24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Отличие от классического агента: прозрачность vs «чёрный ящик»</a:t>
            </a:r>
            <a:endParaRPr b="0" lang="ru-R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10000"/>
              </a:lnSpc>
              <a:spcBef>
                <a:spcPts val="850"/>
              </a:spcBef>
              <a:buNone/>
              <a:tabLst>
                <a:tab algn="l" pos="0"/>
              </a:tabLst>
            </a:pPr>
            <a:r>
              <a:rPr b="0" lang="ru-RU" sz="24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Фазы: рассуждение -&gt; планирование -&gt; действия -&gt; ответ</a:t>
            </a:r>
            <a:endParaRPr b="0" lang="ru-R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10000"/>
              </a:lnSpc>
              <a:spcBef>
                <a:spcPts val="850"/>
              </a:spcBef>
              <a:buNone/>
              <a:tabLst>
                <a:tab algn="l" pos="0"/>
              </a:tabLst>
            </a:pPr>
            <a:r>
              <a:rPr b="0" lang="ru-RU" sz="24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Прямое использование из Python: AgentConfig + SGRToolCallingAgent</a:t>
            </a:r>
            <a:endParaRPr b="0" lang="ru-R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endParaRPr b="0" lang="ru-R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356400" y="219600"/>
            <a:ext cx="10690920" cy="67860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Autofit/>
          </a:bodyPr>
          <a:p>
            <a:pPr indent="0" defTabSz="914400">
              <a:lnSpc>
                <a:spcPct val="92000"/>
              </a:lnSpc>
              <a:buNone/>
              <a:tabLst>
                <a:tab algn="l" pos="0"/>
              </a:tabLst>
            </a:pPr>
            <a:r>
              <a:rPr b="1" lang="ru-RU" sz="48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2. Архитектура</a:t>
            </a:r>
            <a:endParaRPr b="0" lang="ru-RU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PlaceHolder 2"/>
          <p:cNvSpPr>
            <a:spLocks noGrp="1"/>
          </p:cNvSpPr>
          <p:nvPr>
            <p:ph type="sldNum" idx="39"/>
          </p:nvPr>
        </p:nvSpPr>
        <p:spPr>
          <a:xfrm>
            <a:off x="11685600" y="388080"/>
            <a:ext cx="138600" cy="25812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ctr">
            <a:normAutofit lnSpcReduction="9999"/>
          </a:bodyPr>
          <a:lstStyle>
            <a:lvl1pPr indent="0" algn="ctr" defTabSz="457200">
              <a:lnSpc>
                <a:spcPct val="100000"/>
              </a:lnSpc>
              <a:buNone/>
              <a:tabLst>
                <a:tab algn="l" pos="0"/>
              </a:tabLst>
              <a:defRPr b="0" lang="ru-RU" sz="1800" strike="noStrike" u="none">
                <a:solidFill>
                  <a:srgbClr val="838383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fld id="{3172C733-2FF4-4526-A5AB-A1B826A3E560}" type="slidenum">
              <a:rPr b="0" lang="ru-RU" sz="1800" strike="noStrike" u="none">
                <a:solidFill>
                  <a:srgbClr val="838383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ru-RU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" name="PlaceHolder 3"/>
          <p:cNvSpPr>
            <a:spLocks noGrp="1"/>
          </p:cNvSpPr>
          <p:nvPr>
            <p:ph/>
          </p:nvPr>
        </p:nvSpPr>
        <p:spPr>
          <a:xfrm>
            <a:off x="356400" y="1220400"/>
            <a:ext cx="10690920" cy="491292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Autofit/>
          </a:bodyPr>
          <a:p>
            <a:pPr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ru-RU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FastAPI сервер с хранилищем агентов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ru-RU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Жизненный цикл агента: создание -&gt; выполнение -&gt; очистка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ru-RU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Stateless vs Stateful режимы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ru-RU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OpenAI-совместимый эндпоинт /v1/chat/completions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ru-RU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Режим Agent Client Protocol (ACP)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356040" y="219600"/>
            <a:ext cx="10690560" cy="67860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Autofit/>
          </a:bodyPr>
          <a:p>
            <a:pPr indent="0" defTabSz="914400">
              <a:lnSpc>
                <a:spcPct val="92000"/>
              </a:lnSpc>
              <a:buNone/>
              <a:tabLst>
                <a:tab algn="l" pos="0"/>
              </a:tabLst>
            </a:pPr>
            <a:r>
              <a:rPr b="1" lang="ru-RU" sz="48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3. Конфиг YAML и типы агентов</a:t>
            </a:r>
            <a:endParaRPr b="0" lang="ru-RU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 type="sldNum" idx="40"/>
          </p:nvPr>
        </p:nvSpPr>
        <p:spPr>
          <a:xfrm>
            <a:off x="11685240" y="388080"/>
            <a:ext cx="138600" cy="25812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ctr">
            <a:normAutofit lnSpcReduction="9999"/>
          </a:bodyPr>
          <a:lstStyle>
            <a:lvl1pPr indent="0" algn="ctr" defTabSz="457200">
              <a:lnSpc>
                <a:spcPct val="100000"/>
              </a:lnSpc>
              <a:buNone/>
              <a:tabLst>
                <a:tab algn="l" pos="0"/>
              </a:tabLst>
              <a:defRPr b="0" lang="ru-RU" sz="1800" strike="noStrike" u="none">
                <a:solidFill>
                  <a:srgbClr val="838383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fld id="{3DDFC4B7-A699-45E7-A6E3-B4164FC62DAB}" type="slidenum">
              <a:rPr b="0" lang="ru-RU" sz="1800" strike="noStrike" u="none">
                <a:solidFill>
                  <a:srgbClr val="838383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ru-RU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" name="PlaceHolder 3"/>
          <p:cNvSpPr>
            <a:spLocks noGrp="1"/>
          </p:cNvSpPr>
          <p:nvPr>
            <p:ph/>
          </p:nvPr>
        </p:nvSpPr>
        <p:spPr>
          <a:xfrm>
            <a:off x="356040" y="1220400"/>
            <a:ext cx="10690560" cy="491292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Autofit/>
          </a:bodyPr>
          <a:p>
            <a:pPr indent="0" defTabSz="914400">
              <a:lnSpc>
                <a:spcPct val="110000"/>
              </a:lnSpc>
              <a:spcBef>
                <a:spcPts val="850"/>
              </a:spcBef>
              <a:buNone/>
              <a:tabLst>
                <a:tab algn="l" pos="0"/>
              </a:tabLst>
            </a:pPr>
            <a:r>
              <a:rPr b="0" lang="ru-RU" sz="28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Иерархия: defaults -&gt; env -&gt; YAML-файл -&gt; минимальные переопределения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10000"/>
              </a:lnSpc>
              <a:spcBef>
                <a:spcPts val="850"/>
              </a:spcBef>
              <a:buNone/>
              <a:tabLst>
                <a:tab algn="l" pos="0"/>
              </a:tabLst>
            </a:pPr>
            <a:r>
              <a:rPr b="0" lang="ru-RU" sz="28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GlobalConfig + AgentDefinition - наследование настроек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10000"/>
              </a:lnSpc>
              <a:spcBef>
                <a:spcPts val="850"/>
              </a:spcBef>
              <a:buNone/>
              <a:tabLst>
                <a:tab algn="l" pos="0"/>
              </a:tabLst>
            </a:pPr>
            <a:r>
              <a:rPr b="0" lang="ru-RU" sz="28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Типы агентов: SGRAgent, ToolCallingAgent, SGRToolCallingAgent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10000"/>
              </a:lnSpc>
              <a:spcBef>
                <a:spcPts val="850"/>
              </a:spcBef>
              <a:buNone/>
              <a:tabLst>
                <a:tab algn="l" pos="0"/>
              </a:tabLst>
            </a:pPr>
            <a:r>
              <a:rPr b="0" lang="ru-RU" sz="28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Пример: llm, toolkit, agent, observability в одном файле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356040" y="219600"/>
            <a:ext cx="10690560" cy="67860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Autofit/>
          </a:bodyPr>
          <a:p>
            <a:pPr indent="0" defTabSz="914400">
              <a:lnSpc>
                <a:spcPct val="92000"/>
              </a:lnSpc>
              <a:buNone/>
              <a:tabLst>
                <a:tab algn="l" pos="0"/>
              </a:tabLst>
            </a:pPr>
            <a:r>
              <a:rPr b="1" lang="ru-RU" sz="48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4. Подготовка окружения</a:t>
            </a:r>
            <a:endParaRPr b="0" lang="ru-RU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 type="sldNum" idx="41"/>
          </p:nvPr>
        </p:nvSpPr>
        <p:spPr>
          <a:xfrm>
            <a:off x="11685240" y="388080"/>
            <a:ext cx="138600" cy="25812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ctr">
            <a:normAutofit lnSpcReduction="9999"/>
          </a:bodyPr>
          <a:lstStyle>
            <a:lvl1pPr indent="0" algn="ctr" defTabSz="457200">
              <a:lnSpc>
                <a:spcPct val="100000"/>
              </a:lnSpc>
              <a:buNone/>
              <a:tabLst>
                <a:tab algn="l" pos="0"/>
              </a:tabLst>
              <a:defRPr b="0" lang="ru-RU" sz="1800" strike="noStrike" u="none">
                <a:solidFill>
                  <a:srgbClr val="838383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fld id="{13D57ED4-B378-4DAD-83FF-0930D67237DD}" type="slidenum">
              <a:rPr b="0" lang="ru-RU" sz="1800" strike="noStrike" u="none">
                <a:solidFill>
                  <a:srgbClr val="838383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ru-RU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" name="PlaceHolder 3"/>
          <p:cNvSpPr>
            <a:spLocks noGrp="1"/>
          </p:cNvSpPr>
          <p:nvPr>
            <p:ph/>
          </p:nvPr>
        </p:nvSpPr>
        <p:spPr>
          <a:xfrm>
            <a:off x="356040" y="1220400"/>
            <a:ext cx="10690560" cy="491292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Autofit/>
          </a:bodyPr>
          <a:p>
            <a:pPr indent="0" defTabSz="914400">
              <a:lnSpc>
                <a:spcPct val="110000"/>
              </a:lnSpc>
              <a:spcBef>
                <a:spcPts val="850"/>
              </a:spcBef>
              <a:buNone/>
              <a:tabLst>
                <a:tab algn="l" pos="0"/>
              </a:tabLst>
            </a:pPr>
            <a:r>
              <a:rPr b="0" lang="ru-RU" sz="28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Вариант 1: Docker -&gt; ghcr.io/vamplabai/sgr-agent-core:latest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10000"/>
              </a:lnSpc>
              <a:spcBef>
                <a:spcPts val="850"/>
              </a:spcBef>
              <a:buNone/>
              <a:tabLst>
                <a:tab algn="l" pos="0"/>
              </a:tabLst>
            </a:pPr>
            <a:r>
              <a:rPr b="0" lang="ru-RU" sz="28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Вариант 2: pip install sgr-agent-core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10000"/>
              </a:lnSpc>
              <a:spcBef>
                <a:spcPts val="850"/>
              </a:spcBef>
              <a:buNone/>
              <a:tabLst>
                <a:tab algn="l" pos="0"/>
              </a:tabLst>
            </a:pPr>
            <a:r>
              <a:rPr b="0" lang="ru-RU" sz="28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Ключи API: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10000"/>
              </a:lnSpc>
              <a:spcBef>
                <a:spcPts val="850"/>
              </a:spcBef>
              <a:buNone/>
              <a:tabLst>
                <a:tab algn="l" pos="0"/>
              </a:tabLst>
            </a:pPr>
            <a:r>
              <a:rPr b="0" lang="ru-RU" sz="28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- OpenAI-совместимое API (обязательно)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10000"/>
              </a:lnSpc>
              <a:spcBef>
                <a:spcPts val="850"/>
              </a:spcBef>
              <a:buNone/>
              <a:tabLst>
                <a:tab algn="l" pos="0"/>
              </a:tabLst>
            </a:pPr>
            <a:r>
              <a:rPr b="0" lang="ru-RU" sz="28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- Tavily (опционально для Deep Research)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10000"/>
              </a:lnSpc>
              <a:spcBef>
                <a:spcPts val="850"/>
              </a:spcBef>
              <a:buNone/>
              <a:tabLst>
                <a:tab algn="l" pos="0"/>
              </a:tabLst>
            </a:pPr>
            <a:r>
              <a:rPr b="0" lang="ru-RU" sz="28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Первая команда: sgr --help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356040" y="219600"/>
            <a:ext cx="10690560" cy="67860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Autofit/>
          </a:bodyPr>
          <a:p>
            <a:pPr indent="0" defTabSz="914400">
              <a:lnSpc>
                <a:spcPct val="92000"/>
              </a:lnSpc>
              <a:buNone/>
              <a:tabLst>
                <a:tab algn="l" pos="0"/>
              </a:tabLst>
            </a:pPr>
            <a:r>
              <a:rPr b="1" lang="ru-RU" sz="48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5. Практика: Deep Research</a:t>
            </a:r>
            <a:endParaRPr b="0" lang="ru-RU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ldNum" idx="42"/>
          </p:nvPr>
        </p:nvSpPr>
        <p:spPr>
          <a:xfrm>
            <a:off x="11685240" y="388080"/>
            <a:ext cx="138600" cy="25812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ctr">
            <a:normAutofit lnSpcReduction="9999"/>
          </a:bodyPr>
          <a:lstStyle>
            <a:lvl1pPr indent="0" algn="ctr" defTabSz="457200">
              <a:lnSpc>
                <a:spcPct val="100000"/>
              </a:lnSpc>
              <a:buNone/>
              <a:tabLst>
                <a:tab algn="l" pos="0"/>
              </a:tabLst>
              <a:defRPr b="0" lang="ru-RU" sz="1800" strike="noStrike" u="none">
                <a:solidFill>
                  <a:srgbClr val="838383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fld id="{0D9B52ED-C878-410F-AC0B-4E1F4574B698}" type="slidenum">
              <a:rPr b="0" lang="ru-RU" sz="1800" strike="noStrike" u="none">
                <a:solidFill>
                  <a:srgbClr val="838383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ru-RU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" name="PlaceHolder 3"/>
          <p:cNvSpPr>
            <a:spLocks noGrp="1"/>
          </p:cNvSpPr>
          <p:nvPr>
            <p:ph/>
          </p:nvPr>
        </p:nvSpPr>
        <p:spPr>
          <a:xfrm>
            <a:off x="356040" y="1220400"/>
            <a:ext cx="10690560" cy="491292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Autofit/>
          </a:bodyPr>
          <a:p>
            <a:pPr indent="0" defTabSz="914400">
              <a:lnSpc>
                <a:spcPct val="110000"/>
              </a:lnSpc>
              <a:spcBef>
                <a:spcPts val="850"/>
              </a:spcBef>
              <a:buNone/>
              <a:tabLst>
                <a:tab algn="l" pos="0"/>
              </a:tabLst>
            </a:pPr>
            <a:r>
              <a:rPr b="0" lang="ru-RU" sz="28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Что происходит???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10000"/>
              </a:lnSpc>
              <a:spcBef>
                <a:spcPts val="850"/>
              </a:spcBef>
              <a:buNone/>
              <a:tabLst>
                <a:tab algn="l" pos="0"/>
              </a:tabLst>
            </a:pPr>
            <a:r>
              <a:rPr b="0" lang="ru-RU" sz="28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1. Создадим venv-окружение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10000"/>
              </a:lnSpc>
              <a:spcBef>
                <a:spcPts val="850"/>
              </a:spcBef>
              <a:buNone/>
              <a:tabLst>
                <a:tab algn="l" pos="0"/>
              </a:tabLst>
            </a:pPr>
            <a:r>
              <a:rPr b="0" lang="ru-RU" sz="28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2. Установим приложение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10000"/>
              </a:lnSpc>
              <a:spcBef>
                <a:spcPts val="850"/>
              </a:spcBef>
              <a:buNone/>
              <a:tabLst>
                <a:tab algn="l" pos="0"/>
              </a:tabLst>
            </a:pPr>
            <a:r>
              <a:rPr b="0" lang="ru-RU" sz="28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3. Подготовим YAML-конфиг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10000"/>
              </a:lnSpc>
              <a:spcBef>
                <a:spcPts val="850"/>
              </a:spcBef>
              <a:buNone/>
              <a:tabLst>
                <a:tab algn="l" pos="0"/>
              </a:tabLst>
            </a:pPr>
            <a:r>
              <a:rPr b="0" lang="ru-RU" sz="28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4. Запустим API-сервер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10000"/>
              </a:lnSpc>
              <a:spcBef>
                <a:spcPts val="850"/>
              </a:spcBef>
              <a:buNone/>
              <a:tabLst>
                <a:tab algn="l" pos="0"/>
              </a:tabLst>
            </a:pPr>
            <a:r>
              <a:rPr b="0" lang="ru-RU" sz="28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5. Проверим API-сервер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10000"/>
              </a:lnSpc>
              <a:spcBef>
                <a:spcPts val="850"/>
              </a:spcBef>
              <a:buNone/>
              <a:tabLst>
                <a:tab algn="l" pos="0"/>
              </a:tabLst>
            </a:pP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10000"/>
              </a:lnSpc>
              <a:spcBef>
                <a:spcPts val="850"/>
              </a:spcBef>
              <a:buNone/>
              <a:tabLst>
                <a:tab algn="l" pos="0"/>
              </a:tabLst>
            </a:pPr>
            <a:r>
              <a:rPr b="0" lang="ru-RU" sz="28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Что получим --&gt;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10000"/>
              </a:lnSpc>
              <a:spcBef>
                <a:spcPts val="850"/>
              </a:spcBef>
              <a:buNone/>
              <a:tabLst>
                <a:tab algn="l" pos="0"/>
              </a:tabLst>
            </a:pPr>
            <a:r>
              <a:rPr b="0" lang="ru-RU" sz="28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Набор тулов: план -&gt; поиск Tavily -&gt; извлечение -&gt; ответ -&gt; генерация отчета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10000"/>
              </a:lnSpc>
              <a:spcBef>
                <a:spcPts val="850"/>
              </a:spcBef>
              <a:buNone/>
              <a:tabLst>
                <a:tab algn="l" pos="0"/>
              </a:tabLst>
            </a:pPr>
            <a:r>
              <a:rPr b="0" lang="ru-RU" sz="28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Пайплайн SGR: прозрачность каждого шага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10000"/>
              </a:lnSpc>
              <a:spcBef>
                <a:spcPts val="850"/>
              </a:spcBef>
              <a:buNone/>
              <a:tabLst>
                <a:tab algn="l" pos="0"/>
              </a:tabLst>
            </a:pPr>
            <a:r>
              <a:rPr b="0" lang="ru-RU" sz="28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Где смотреть: logs/ и reports/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10000"/>
              </a:lnSpc>
              <a:spcBef>
                <a:spcPts val="850"/>
              </a:spcBef>
              <a:buNone/>
              <a:tabLst>
                <a:tab algn="l" pos="0"/>
              </a:tabLst>
            </a:pPr>
            <a:r>
              <a:rPr b="0" lang="ru-RU" sz="28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Пример запроса через curl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507240" y="612720"/>
            <a:ext cx="8276040" cy="135792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6000" strike="noStrike" u="none">
                <a:solidFill>
                  <a:schemeClr val="lt1"/>
                </a:solidFill>
                <a:effectLst/>
                <a:uFillTx/>
                <a:latin typeface="Calibri"/>
                <a:ea typeface="Arial"/>
              </a:rPr>
              <a:t>SGR Agent Core</a:t>
            </a:r>
            <a:br>
              <a:rPr sz="6000"/>
            </a:br>
            <a:r>
              <a:rPr b="1" lang="en-US" sz="6000" strike="noStrike" u="none">
                <a:solidFill>
                  <a:schemeClr val="lt1"/>
                </a:solidFill>
                <a:effectLst/>
                <a:uFillTx/>
                <a:latin typeface="Calibri"/>
                <a:ea typeface="Arial"/>
              </a:rPr>
              <a:t>Мастер-класс</a:t>
            </a:r>
            <a:endParaRPr b="0" lang="ru-RU" sz="6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" name="PlaceHolder 2"/>
          <p:cNvSpPr>
            <a:spLocks noGrp="1"/>
          </p:cNvSpPr>
          <p:nvPr>
            <p:ph/>
          </p:nvPr>
        </p:nvSpPr>
        <p:spPr>
          <a:xfrm>
            <a:off x="507240" y="2700000"/>
            <a:ext cx="8276040" cy="143712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Autofit/>
          </a:bodyPr>
          <a:p>
            <a:pPr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Перерыв 10-15 минут</a:t>
            </a:r>
            <a:endParaRPr b="0" lang="ru-RU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356040" y="219600"/>
            <a:ext cx="10690560" cy="67860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Autofit/>
          </a:bodyPr>
          <a:p>
            <a:pPr indent="0" defTabSz="914400">
              <a:lnSpc>
                <a:spcPct val="92000"/>
              </a:lnSpc>
              <a:buNone/>
              <a:tabLst>
                <a:tab algn="l" pos="0"/>
              </a:tabLst>
            </a:pPr>
            <a:r>
              <a:rPr b="1" lang="ru-RU" sz="48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6. Практика: Файловый агент</a:t>
            </a:r>
            <a:endParaRPr b="0" lang="ru-RU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/>
          </p:nvPr>
        </p:nvSpPr>
        <p:spPr>
          <a:xfrm>
            <a:off x="356040" y="1220400"/>
            <a:ext cx="10690560" cy="491292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Autofit/>
          </a:bodyPr>
          <a:p>
            <a:pPr indent="0" defTabSz="914400">
              <a:lnSpc>
                <a:spcPct val="110000"/>
              </a:lnSpc>
              <a:spcBef>
                <a:spcPts val="850"/>
              </a:spcBef>
              <a:buNone/>
              <a:tabLst>
                <a:tab algn="l" pos="0"/>
              </a:tabLst>
            </a:pPr>
            <a:r>
              <a:rPr b="0" lang="ru-RU" sz="28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1. Пишем тулы: read, write, grep, glob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10000"/>
              </a:lnSpc>
              <a:spcBef>
                <a:spcPts val="850"/>
              </a:spcBef>
              <a:buNone/>
              <a:tabLst>
                <a:tab algn="l" pos="0"/>
              </a:tabLst>
            </a:pPr>
            <a:r>
              <a:rPr b="0" lang="ru-RU" sz="28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2. Настраиваем YAML-конфигурую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10000"/>
              </a:lnSpc>
              <a:spcBef>
                <a:spcPts val="850"/>
              </a:spcBef>
              <a:buNone/>
              <a:tabLst>
                <a:tab algn="l" pos="0"/>
              </a:tabLst>
            </a:pPr>
            <a:r>
              <a:rPr b="0" lang="ru-RU" sz="28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3. Запуск API-сервера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10000"/>
              </a:lnSpc>
              <a:spcBef>
                <a:spcPts val="850"/>
              </a:spcBef>
              <a:buNone/>
              <a:tabLst>
                <a:tab algn="l" pos="0"/>
              </a:tabLst>
            </a:pPr>
            <a:r>
              <a:rPr b="0" lang="ru-RU" sz="28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4. Выполение cURL-зарпроса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10000"/>
              </a:lnSpc>
              <a:spcBef>
                <a:spcPts val="850"/>
              </a:spcBef>
              <a:buNone/>
              <a:tabLst>
                <a:tab algn="l" pos="0"/>
              </a:tabLst>
            </a:pPr>
            <a:r>
              <a:rPr b="0" lang="ru-RU" sz="28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5. Запуск ACP stdio (задача со*)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10000"/>
              </a:lnSpc>
              <a:spcBef>
                <a:spcPts val="850"/>
              </a:spcBef>
              <a:buNone/>
              <a:tabLst>
                <a:tab algn="l" pos="0"/>
              </a:tabLst>
            </a:pPr>
            <a:r>
              <a:rPr b="0" lang="ru-RU" sz="28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6. Подключение APC к Obsidian</a:t>
            </a:r>
            <a:r>
              <a:rPr b="0" lang="ru-RU" sz="28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 (задача со*)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10000"/>
              </a:lnSpc>
              <a:spcBef>
                <a:spcPts val="850"/>
              </a:spcBef>
              <a:buNone/>
              <a:tabLst>
                <a:tab algn="l" pos="0"/>
              </a:tabLst>
            </a:pP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10000"/>
              </a:lnSpc>
              <a:spcBef>
                <a:spcPts val="850"/>
              </a:spcBef>
              <a:buNone/>
              <a:tabLst>
                <a:tab algn="l" pos="0"/>
              </a:tabLst>
            </a:pPr>
            <a:r>
              <a:rPr b="0" lang="ru-RU" sz="28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Что получим --&gt;&gt;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PlaceHolder 3"/>
          <p:cNvSpPr>
            <a:spLocks noGrp="1"/>
          </p:cNvSpPr>
          <p:nvPr>
            <p:ph/>
          </p:nvPr>
        </p:nvSpPr>
        <p:spPr>
          <a:xfrm>
            <a:off x="5834160" y="1220400"/>
            <a:ext cx="5216760" cy="4912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fld id="{14195C78-AA27-43FD-BA03-D67F2E52F93B}" type="slidenum">
              <a:rPr b="0" lang="ru-RU" sz="800" strike="noStrike" u="none">
                <a:solidFill>
                  <a:srgbClr val="838383"/>
                </a:solidFill>
                <a:effectLst/>
                <a:uFillTx/>
                <a:latin typeface="Arial"/>
                <a:ea typeface="Arial"/>
              </a:rPr>
              <a:t>10</a:t>
            </a:fld>
            <a:endParaRPr b="0" lang="ru-RU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356040" y="219600"/>
            <a:ext cx="10690560" cy="67860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Autofit/>
          </a:bodyPr>
          <a:p>
            <a:pPr indent="0" defTabSz="914400">
              <a:lnSpc>
                <a:spcPct val="92000"/>
              </a:lnSpc>
              <a:buNone/>
              <a:tabLst>
                <a:tab algn="l" pos="0"/>
              </a:tabLst>
            </a:pPr>
            <a:r>
              <a:rPr b="1" lang="ru-RU" sz="48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7. Langfuse и тесты</a:t>
            </a:r>
            <a:endParaRPr b="0" lang="ru-RU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 type="sldNum" idx="43"/>
          </p:nvPr>
        </p:nvSpPr>
        <p:spPr>
          <a:xfrm>
            <a:off x="11685240" y="388080"/>
            <a:ext cx="138600" cy="25812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ctr">
            <a:norm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algn="l" pos="0"/>
              </a:tabLst>
              <a:defRPr b="0" lang="ru-RU" sz="800" strike="noStrike" u="none">
                <a:solidFill>
                  <a:srgbClr val="838383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fld id="{7A1A7693-EBB8-41A1-B349-800A4A67957E}" type="slidenum">
              <a:rPr b="0" lang="ru-RU" sz="800" strike="noStrike" u="none">
                <a:solidFill>
                  <a:srgbClr val="838383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ru-RU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" name="PlaceHolder 3"/>
          <p:cNvSpPr>
            <a:spLocks noGrp="1"/>
          </p:cNvSpPr>
          <p:nvPr>
            <p:ph/>
          </p:nvPr>
        </p:nvSpPr>
        <p:spPr>
          <a:xfrm>
            <a:off x="356040" y="1220400"/>
            <a:ext cx="10690560" cy="491292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Autofit/>
          </a:bodyPr>
          <a:p>
            <a:pPr indent="0" defTabSz="914400">
              <a:lnSpc>
                <a:spcPct val="110000"/>
              </a:lnSpc>
              <a:spcBef>
                <a:spcPts val="850"/>
              </a:spcBef>
              <a:buNone/>
              <a:tabLst>
                <a:tab algn="l" pos="0"/>
              </a:tabLst>
            </a:pPr>
            <a:r>
              <a:rPr b="0" lang="ru-RU" sz="28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Уровни тестирования: тулы -&gt; агенты -&gt; API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10000"/>
              </a:lnSpc>
              <a:spcBef>
                <a:spcPts val="850"/>
              </a:spcBef>
              <a:buNone/>
              <a:tabLst>
                <a:tab algn="l" pos="0"/>
              </a:tabLst>
            </a:pPr>
            <a:r>
              <a:rPr b="0" lang="ru-RU" sz="28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Langfuse для трассировки шагов модели (просто показать)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10000"/>
              </a:lnSpc>
              <a:spcBef>
                <a:spcPts val="850"/>
              </a:spcBef>
              <a:buNone/>
              <a:tabLst>
                <a:tab algn="l" pos="0"/>
              </a:tabLst>
            </a:pP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356040" y="219600"/>
            <a:ext cx="10690560" cy="67860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Autofit/>
          </a:bodyPr>
          <a:p>
            <a:pPr indent="0" defTabSz="914400">
              <a:lnSpc>
                <a:spcPct val="92000"/>
              </a:lnSpc>
              <a:buNone/>
              <a:tabLst>
                <a:tab algn="l" pos="0"/>
              </a:tabLst>
            </a:pPr>
            <a:r>
              <a:rPr b="1" lang="ru-RU" sz="48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8. Домашнее задание</a:t>
            </a:r>
            <a:endParaRPr b="0" lang="ru-RU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PlaceHolder 2"/>
          <p:cNvSpPr>
            <a:spLocks noGrp="1"/>
          </p:cNvSpPr>
          <p:nvPr>
            <p:ph type="sldNum" idx="44"/>
          </p:nvPr>
        </p:nvSpPr>
        <p:spPr>
          <a:xfrm>
            <a:off x="11685240" y="388080"/>
            <a:ext cx="138600" cy="25812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ctr">
            <a:norm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algn="l" pos="0"/>
              </a:tabLst>
              <a:defRPr b="0" lang="ru-RU" sz="800" strike="noStrike" u="none">
                <a:solidFill>
                  <a:srgbClr val="838383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fld id="{3FD70D9B-8675-4321-A3A4-531272F5E09F}" type="slidenum">
              <a:rPr b="0" lang="ru-RU" sz="800" strike="noStrike" u="none">
                <a:solidFill>
                  <a:srgbClr val="838383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ru-RU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" name="PlaceHolder 3"/>
          <p:cNvSpPr>
            <a:spLocks noGrp="1"/>
          </p:cNvSpPr>
          <p:nvPr>
            <p:ph/>
          </p:nvPr>
        </p:nvSpPr>
        <p:spPr>
          <a:xfrm>
            <a:off x="356040" y="1220400"/>
            <a:ext cx="10690560" cy="491292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Autofit/>
          </a:bodyPr>
          <a:p>
            <a:pPr indent="0" defTabSz="914400">
              <a:lnSpc>
                <a:spcPct val="110000"/>
              </a:lnSpc>
              <a:spcBef>
                <a:spcPts val="850"/>
              </a:spcBef>
              <a:buNone/>
              <a:tabLst>
                <a:tab algn="l" pos="0"/>
              </a:tabLst>
            </a:pPr>
            <a:r>
              <a:rPr b="0" lang="ru-RU" sz="28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(расписать подробнее задачу)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10000"/>
              </a:lnSpc>
              <a:spcBef>
                <a:spcPts val="850"/>
              </a:spcBef>
              <a:buNone/>
              <a:tabLst>
                <a:tab algn="l" pos="0"/>
              </a:tabLst>
            </a:pPr>
            <a:r>
              <a:rPr b="0" lang="ru-RU" sz="28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1. файловый агент на своём vault с 3+ тестами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10000"/>
              </a:lnSpc>
              <a:spcBef>
                <a:spcPts val="850"/>
              </a:spcBef>
              <a:buNone/>
              <a:tabLst>
                <a:tab algn="l" pos="0"/>
              </a:tabLst>
            </a:pPr>
            <a:r>
              <a:rPr b="0" lang="ru-RU" sz="28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2. SGR </a:t>
            </a:r>
            <a:r>
              <a:rPr b="0" lang="ru-RU" sz="28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ACP интеграция с VS Code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10000"/>
              </a:lnSpc>
              <a:spcBef>
                <a:spcPts val="850"/>
              </a:spcBef>
              <a:buNone/>
              <a:tabLst>
                <a:tab algn="l" pos="0"/>
              </a:tabLst>
            </a:pP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10000"/>
              </a:lnSpc>
              <a:spcBef>
                <a:spcPts val="850"/>
              </a:spcBef>
              <a:buNone/>
              <a:tabLst>
                <a:tab algn="l" pos="0"/>
              </a:tabLst>
            </a:pPr>
            <a:r>
              <a:rPr b="0" lang="ru-RU" sz="28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-&gt;&gt;&gt;&gt;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10000"/>
              </a:lnSpc>
              <a:spcBef>
                <a:spcPts val="850"/>
              </a:spcBef>
              <a:buNone/>
              <a:tabLst>
                <a:tab algn="l" pos="0"/>
              </a:tabLst>
            </a:pPr>
            <a:r>
              <a:rPr b="0" lang="ru-RU" sz="28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Что проверить: воспроизводимость экспериментов, метрики Langfuse, Swagger-документация API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356040" y="219600"/>
            <a:ext cx="10690560" cy="67860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Autofit/>
          </a:bodyPr>
          <a:p>
            <a:pPr indent="0" defTabSz="914400">
              <a:lnSpc>
                <a:spcPct val="92000"/>
              </a:lnSpc>
              <a:buNone/>
              <a:tabLst>
                <a:tab algn="l" pos="0"/>
              </a:tabLst>
            </a:pPr>
            <a:r>
              <a:rPr b="1" lang="ru-RU" sz="48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9. Завершение и Roadmap</a:t>
            </a:r>
            <a:endParaRPr b="0" lang="ru-RU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 type="sldNum" idx="45"/>
          </p:nvPr>
        </p:nvSpPr>
        <p:spPr>
          <a:xfrm>
            <a:off x="11685240" y="388080"/>
            <a:ext cx="138600" cy="25812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ctr">
            <a:norm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algn="l" pos="0"/>
              </a:tabLst>
              <a:defRPr b="0" lang="ru-RU" sz="800" strike="noStrike" u="none">
                <a:solidFill>
                  <a:srgbClr val="838383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fld id="{D8C00CB9-B7FD-42ED-B09F-140570F2C912}" type="slidenum">
              <a:rPr b="0" lang="ru-RU" sz="800" strike="noStrike" u="none">
                <a:solidFill>
                  <a:srgbClr val="838383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ru-RU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" name="PlaceHolder 3"/>
          <p:cNvSpPr>
            <a:spLocks noGrp="1"/>
          </p:cNvSpPr>
          <p:nvPr>
            <p:ph/>
          </p:nvPr>
        </p:nvSpPr>
        <p:spPr>
          <a:xfrm>
            <a:off x="356040" y="1220400"/>
            <a:ext cx="10690560" cy="491292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Autofit/>
          </a:bodyPr>
          <a:p>
            <a:pPr indent="0" defTabSz="914400">
              <a:lnSpc>
                <a:spcPct val="110000"/>
              </a:lnSpc>
              <a:spcBef>
                <a:spcPts val="850"/>
              </a:spcBef>
              <a:buNone/>
              <a:tabLst>
                <a:tab algn="l" pos="0"/>
              </a:tabLst>
            </a:pPr>
            <a:r>
              <a:rPr b="0" lang="ru-RU" sz="28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(добавить визуала, в виде роадмапа чарта)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10000"/>
              </a:lnSpc>
              <a:spcBef>
                <a:spcPts val="850"/>
              </a:spcBef>
              <a:buNone/>
              <a:tabLst>
                <a:tab algn="l" pos="0"/>
              </a:tabLst>
            </a:pPr>
            <a:r>
              <a:rPr b="0" lang="ru-RU" sz="28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Резюме: сервер -&gt; модель -&gt; ACP -&gt; тестировать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10000"/>
              </a:lnSpc>
              <a:spcBef>
                <a:spcPts val="850"/>
              </a:spcBef>
              <a:buNone/>
              <a:tabLst>
                <a:tab algn="l" pos="0"/>
              </a:tabLst>
            </a:pPr>
            <a:r>
              <a:rPr b="0" lang="ru-RU" sz="28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Roadmap: тулы записи, MCP серверы, прод-политики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10000"/>
              </a:lnSpc>
              <a:spcBef>
                <a:spcPts val="850"/>
              </a:spcBef>
              <a:buNone/>
              <a:tabLst>
                <a:tab algn="l" pos="0"/>
              </a:tabLst>
            </a:pPr>
            <a:r>
              <a:rPr b="0" lang="ru-RU" sz="28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Шпаргалка по командам: клонирование, запуск, тесты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10000"/>
              </a:lnSpc>
              <a:spcBef>
                <a:spcPts val="850"/>
              </a:spcBef>
              <a:buNone/>
              <a:tabLst>
                <a:tab algn="l" pos="0"/>
              </a:tabLst>
            </a:pPr>
            <a:r>
              <a:rPr b="0" lang="ru-RU" sz="28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Q&amp;A и обсуждение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884880" y="1041120"/>
            <a:ext cx="5839560" cy="169776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ctr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6000" strike="noStrike" u="none">
                <a:solidFill>
                  <a:schemeClr val="lt1"/>
                </a:solidFill>
                <a:effectLst/>
                <a:uFillTx/>
                <a:latin typeface="Calibri"/>
                <a:ea typeface="Arial"/>
              </a:rPr>
              <a:t>SGR Agent Core</a:t>
            </a:r>
            <a:br>
              <a:rPr sz="6000"/>
            </a:br>
            <a:r>
              <a:rPr b="1" lang="en-US" sz="6000" strike="noStrike" u="none">
                <a:solidFill>
                  <a:schemeClr val="lt1"/>
                </a:solidFill>
                <a:effectLst/>
                <a:uFillTx/>
                <a:latin typeface="Calibri"/>
                <a:ea typeface="Arial"/>
              </a:rPr>
              <a:t>Мастер-класс</a:t>
            </a:r>
            <a:endParaRPr b="0" lang="ru-RU" sz="6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/>
          </p:nvPr>
        </p:nvSpPr>
        <p:spPr>
          <a:xfrm>
            <a:off x="884880" y="3318840"/>
            <a:ext cx="5839560" cy="130680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Autofit/>
          </a:bodyPr>
          <a:p>
            <a:pPr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ru-RU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Спасибо за внимание!</a:t>
            </a:r>
            <a:endParaRPr b="0" lang="ru-RU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13" name="Рисунок 2" descr="Рисунок 3"/>
          <p:cNvPicPr/>
          <p:nvPr/>
        </p:nvPicPr>
        <p:blipFill>
          <a:blip r:embed="rId1"/>
          <a:stretch/>
        </p:blipFill>
        <p:spPr>
          <a:xfrm>
            <a:off x="8962560" y="839880"/>
            <a:ext cx="2101320" cy="2101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f98d7e"/>
      </a:accent1>
      <a:accent2>
        <a:srgbClr val="4fbafc"/>
      </a:accent2>
      <a:accent3>
        <a:srgbClr val="92df70"/>
      </a:accent3>
      <a:accent4>
        <a:srgbClr val="fee170"/>
      </a:accent4>
      <a:accent5>
        <a:srgbClr val="67ebda"/>
      </a:accent5>
      <a:accent6>
        <a:srgbClr val="f876b8"/>
      </a:accent6>
      <a:hlink>
        <a:srgbClr val="0000ff"/>
      </a:hlink>
      <a:folHlink>
        <a:srgbClr val="ff00ff"/>
      </a:folHlink>
    </a:clrScheme>
    <a:fontScheme name="Office Theme">
      <a:majorFont>
        <a:latin typeface="Arial" pitchFamily="0" charset="1"/>
        <a:ea typeface="Arial" pitchFamily="0" charset="1"/>
        <a:cs typeface="Arial" pitchFamily="0" charset="1"/>
      </a:majorFont>
      <a:minorFont>
        <a:latin typeface="Helvetica" pitchFamily="0" charset="1"/>
        <a:ea typeface="Helvetica" pitchFamily="0" charset="1"/>
        <a:cs typeface="Helvetica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</TotalTime>
  <Application>LibreOffice/25.2.3.2$Linux_X86_64 LibreOffice_project/520$Build-2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ru-RU</dc:language>
  <cp:lastModifiedBy/>
  <dcterms:modified xsi:type="dcterms:W3CDTF">2026-04-09T11:06:34Z</dcterms:modified>
  <cp:revision>5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