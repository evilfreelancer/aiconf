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12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5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1.xml.rels" ContentType="application/vnd.openxmlformats-package.relationship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2.xml" ContentType="application/vnd.openxmlformats-officedocument.presentationml.slideLayout+xml"/>
  <Override PartName="/ppt/_rels/presentation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_rels/slide11.xml.rels" ContentType="application/vnd.openxmlformats-package.relationships+xml"/>
  <Override PartName="/ppt/slides/_rels/slide9.xml.rels" ContentType="application/vnd.openxmlformats-package.relationships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0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1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1.png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2.png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2.png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3.png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4.png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11060D21-718F-47CE-A5CA-104960352DD4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13</a:t>
            </a:fld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7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ru-R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440" cy="1161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0920" cy="585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ru-R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440" cy="4690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4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5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6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70D28570-E132-4A59-88B5-A52C6C2CC058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5680" cy="565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5680" cy="80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6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DEA42FB1-602C-4678-90C1-E19F0ADDCAFD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1680" cy="1469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B7D10B78-196A-48AD-905D-F7078187E04F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ru-R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A07145E6-795B-482B-BE8C-20F1C7498F8E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6680" cy="5850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200" cy="5850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ru-R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E5827FDE-5626-48AB-8CFB-CB64292D5F84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ru-R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1C28E64B-D616-4D6C-B2FB-C41EA81252B1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1680" cy="1361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trike="noStrike" u="non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ru-RU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1680" cy="1499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PlaceHolder 3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4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5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1016B230-F525-4761-A115-5E07D012FAF5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7760" cy="452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ru-R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7760" cy="452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ru-R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6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9B03B970-3858-41C5-858F-0F8A96C362DA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560" cy="63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ru-R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560" cy="3950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ru-R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000" cy="63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ru-R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000" cy="3950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ru-R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PlaceHolder 6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7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8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85BDCAC0-8688-4EE9-AE69-F021FC368A35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AA80EE57-C20F-4B22-94FC-CD4580D08339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_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body"/>
          </p:nvPr>
        </p:nvSpPr>
        <p:spPr>
          <a:xfrm>
            <a:off x="366480" y="3815280"/>
            <a:ext cx="8065440" cy="72468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t">
            <a:noAutofit/>
          </a:bodyPr>
          <a:p>
            <a:pPr indent="0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4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Company &amp; Position</a:t>
            </a:r>
            <a:endParaRPr b="0" lang="ru-RU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ru-RU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ru-RU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ru-RU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ru-RU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title"/>
          </p:nvPr>
        </p:nvSpPr>
        <p:spPr>
          <a:xfrm>
            <a:off x="366480" y="432360"/>
            <a:ext cx="8065440" cy="194328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b">
            <a:noAutofit/>
          </a:bodyPr>
          <a:p>
            <a:pPr indent="0" defTabSz="914400">
              <a:lnSpc>
                <a:spcPct val="110000"/>
              </a:lnSpc>
              <a:buNone/>
              <a:tabLst>
                <a:tab algn="l" pos="0"/>
              </a:tabLst>
            </a:pPr>
            <a:r>
              <a:rPr b="1" lang="ru-RU" sz="48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This is my story about how I created this app</a:t>
            </a:r>
            <a:endParaRPr b="0" lang="ru-RU" sz="4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and Content 0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356040" y="219600"/>
            <a:ext cx="10690920" cy="67896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t">
            <a:noAutofit/>
          </a:bodyPr>
          <a:p>
            <a:pPr indent="0" defTabSz="914400">
              <a:lnSpc>
                <a:spcPct val="92000"/>
              </a:lnSpc>
              <a:buNone/>
              <a:tabLst>
                <a:tab algn="l" pos="0"/>
              </a:tabLst>
            </a:pPr>
            <a:r>
              <a:rPr b="1" lang="ru-RU" sz="48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Click to add title.  Generic slide</a:t>
            </a:r>
            <a:endParaRPr b="0" lang="ru-RU" sz="4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356040" y="1220400"/>
            <a:ext cx="10690920" cy="528264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t">
            <a:noAutofit/>
          </a:bodyPr>
          <a:p>
            <a:pPr marL="180000" indent="-180000" defTabSz="9144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Put your content here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sldNum" idx="34"/>
          </p:nvPr>
        </p:nvSpPr>
        <p:spPr>
          <a:xfrm>
            <a:off x="11621520" y="388080"/>
            <a:ext cx="266400" cy="25848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algn="l" pos="0"/>
              </a:tabLst>
              <a:defRPr b="0" lang="ru-RU" sz="1800" strike="noStrike" u="none">
                <a:solidFill>
                  <a:srgbClr val="838383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fld id="{EE655E6A-D495-4E03-BBCA-4248018DC363}" type="slidenum">
              <a:rPr b="0" lang="ru-RU" sz="1800" strike="noStrike" u="none">
                <a:solidFill>
                  <a:srgbClr val="838383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b="0" lang="ru-RU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and code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356040" y="219600"/>
            <a:ext cx="10690920" cy="67896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t">
            <a:noAutofit/>
          </a:bodyPr>
          <a:p>
            <a:pPr indent="0" defTabSz="914400">
              <a:lnSpc>
                <a:spcPct val="92000"/>
              </a:lnSpc>
              <a:buNone/>
              <a:tabLst>
                <a:tab algn="l" pos="0"/>
              </a:tabLst>
            </a:pPr>
            <a:r>
              <a:rPr b="1" lang="ru-RU" sz="48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Click to add title. Use for code</a:t>
            </a:r>
            <a:endParaRPr b="0" lang="ru-RU" sz="4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 type="sldNum" idx="35"/>
          </p:nvPr>
        </p:nvSpPr>
        <p:spPr>
          <a:xfrm>
            <a:off x="11621520" y="388080"/>
            <a:ext cx="266400" cy="25848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algn="l" pos="0"/>
              </a:tabLst>
              <a:defRPr b="0" lang="ru-RU" sz="1800" strike="noStrike" u="none">
                <a:solidFill>
                  <a:srgbClr val="838383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fld id="{010DA31A-BDBC-45D2-9214-D913D9EDA741}" type="slidenum">
              <a:rPr b="0" lang="ru-RU" sz="1800" strike="noStrike" u="none">
                <a:solidFill>
                  <a:srgbClr val="838383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b="0" lang="ru-RU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 type="body"/>
          </p:nvPr>
        </p:nvSpPr>
        <p:spPr>
          <a:xfrm>
            <a:off x="356040" y="1220400"/>
            <a:ext cx="10690920" cy="491328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t">
            <a:noAutofit/>
          </a:bodyPr>
          <a:p>
            <a:pPr indent="0" defTabSz="914400">
              <a:lnSpc>
                <a:spcPct val="110000"/>
              </a:lnSpc>
              <a:buNone/>
              <a:tabLst>
                <a:tab algn="l" pos="0"/>
              </a:tabLst>
            </a:pPr>
            <a:r>
              <a:rPr b="0" lang="ru-RU" sz="28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// Paste your code snippet here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10000"/>
              </a:lnSpc>
              <a:buNone/>
              <a:tabLst>
                <a:tab algn="l" pos="0"/>
              </a:tabLst>
            </a:pP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10000"/>
              </a:lnSpc>
              <a:buNone/>
              <a:tabLst>
                <a:tab algn="l" pos="0"/>
              </a:tabLst>
            </a:pP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10000"/>
              </a:lnSpc>
              <a:buNone/>
              <a:tabLst>
                <a:tab algn="l" pos="0"/>
              </a:tabLst>
            </a:pP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10000"/>
              </a:lnSpc>
              <a:buNone/>
              <a:tabLst>
                <a:tab algn="l" pos="0"/>
              </a:tabLst>
            </a:pP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Section Header_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1719000" y="1445400"/>
            <a:ext cx="8276400" cy="135828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t" anchorCtr="1">
            <a:noAutofit/>
          </a:bodyPr>
          <a:p>
            <a:pPr indent="0" defTabSz="914400">
              <a:lnSpc>
                <a:spcPct val="92000"/>
              </a:lnSpc>
              <a:buNone/>
              <a:tabLst>
                <a:tab algn="l" pos="0"/>
              </a:tabLst>
            </a:pPr>
            <a:r>
              <a:rPr b="1" lang="ru-RU" sz="48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Click to add section separator</a:t>
            </a:r>
            <a:endParaRPr b="0" lang="ru-RU" sz="4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 type="body"/>
          </p:nvPr>
        </p:nvSpPr>
        <p:spPr>
          <a:xfrm>
            <a:off x="1719000" y="3048120"/>
            <a:ext cx="8276400" cy="143748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t" anchorCtr="1">
            <a:noAutofit/>
          </a:bodyPr>
          <a:p>
            <a:pPr indent="0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4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Any subfooter here</a:t>
            </a:r>
            <a:endParaRPr b="0" lang="ru-RU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ru-RU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ru-RU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ru-RU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ru-RU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Final Slide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884880" y="1041120"/>
            <a:ext cx="5839920" cy="169812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ctr">
            <a:noAutofit/>
          </a:bodyPr>
          <a:p>
            <a:pPr indent="0" defTabSz="914400">
              <a:lnSpc>
                <a:spcPct val="92000"/>
              </a:lnSpc>
              <a:buNone/>
              <a:tabLst>
                <a:tab algn="l" pos="0"/>
              </a:tabLst>
            </a:pPr>
            <a:r>
              <a:rPr b="1" lang="ru-RU" sz="60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Please leave your feedback</a:t>
            </a:r>
            <a:endParaRPr b="0" lang="ru-RU" sz="6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 type="body"/>
          </p:nvPr>
        </p:nvSpPr>
        <p:spPr>
          <a:xfrm>
            <a:off x="884880" y="3318840"/>
            <a:ext cx="5839920" cy="130716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t">
            <a:noAutofit/>
          </a:bodyPr>
          <a:p>
            <a:pPr indent="0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4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Author NameCompany &amp; Position</a:t>
            </a:r>
            <a:endParaRPr b="0" lang="ru-RU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ru-RU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ru-RU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ru-RU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ru-RU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" name="Right Arrow 40"/>
          <p:cNvSpPr/>
          <p:nvPr/>
        </p:nvSpPr>
        <p:spPr>
          <a:xfrm>
            <a:off x="7183080" y="1563120"/>
            <a:ext cx="1321560" cy="65412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tx1"/>
          </a:solidFill>
          <a:ln w="12700">
            <a:solidFill>
              <a:srgbClr val="f876b8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>
              <a:lnSpc>
                <a:spcPct val="100000"/>
              </a:lnSpc>
            </a:pP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 type="body"/>
          </p:nvPr>
        </p:nvSpPr>
        <p:spPr>
          <a:xfrm>
            <a:off x="8962560" y="839880"/>
            <a:ext cx="2101680" cy="2101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6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2"/>
    <p:sldLayoutId id="2147483662" r:id="rId3"/>
    <p:sldLayoutId id="2147483663" r:id="rId4"/>
    <p:sldLayoutId id="2147483664" r:id="rId5"/>
    <p:sldLayoutId id="2147483665" r:id="rId6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hyperlink" Target="https://github.com/vamplabai/sgr-agent-core" TargetMode="External"/><Relationship Id="rId2" Type="http://schemas.openxmlformats.org/officeDocument/2006/relationships/slideLayout" Target="../slideLayouts/slideLayout14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6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/>
          </p:nvPr>
        </p:nvSpPr>
        <p:spPr>
          <a:xfrm>
            <a:off x="366480" y="3815280"/>
            <a:ext cx="8065440" cy="72468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t">
            <a:noAutofit/>
          </a:bodyPr>
          <a:p>
            <a:pPr indent="0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ru-RU" sz="32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Рыков Павел</a:t>
            </a:r>
            <a:br>
              <a:rPr sz="3200"/>
            </a:br>
            <a:r>
              <a:rPr b="1" lang="ru-RU" sz="32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Росгосстрах</a:t>
            </a:r>
            <a:endParaRPr b="0" lang="ru-RU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" name="PlaceHolder 2"/>
          <p:cNvSpPr>
            <a:spLocks noGrp="1"/>
          </p:cNvSpPr>
          <p:nvPr>
            <p:ph type="title"/>
          </p:nvPr>
        </p:nvSpPr>
        <p:spPr>
          <a:xfrm>
            <a:off x="366480" y="432360"/>
            <a:ext cx="8065440" cy="194328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b">
            <a:no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6000" strike="noStrike" u="none">
                <a:solidFill>
                  <a:schemeClr val="lt1"/>
                </a:solidFill>
                <a:effectLst/>
                <a:uFillTx/>
                <a:latin typeface="Calibri"/>
                <a:ea typeface="Arial"/>
              </a:rPr>
              <a:t>SGR Agent Core</a:t>
            </a:r>
            <a:br>
              <a:rPr sz="6000"/>
            </a:br>
            <a:r>
              <a:rPr b="1" lang="en-US" sz="6000" strike="noStrike" u="none">
                <a:solidFill>
                  <a:schemeClr val="lt1"/>
                </a:solidFill>
                <a:effectLst/>
                <a:uFillTx/>
                <a:latin typeface="Calibri"/>
                <a:ea typeface="Arial"/>
              </a:rPr>
              <a:t>Мастер-класс</a:t>
            </a:r>
            <a:endParaRPr b="0" lang="ru-RU" sz="6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5" name="" descr=""/>
          <p:cNvPicPr/>
          <p:nvPr/>
        </p:nvPicPr>
        <p:blipFill>
          <a:blip r:embed="rId1"/>
          <a:stretch/>
        </p:blipFill>
        <p:spPr>
          <a:xfrm>
            <a:off x="3420000" y="2606400"/>
            <a:ext cx="6802200" cy="42512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356040" y="219600"/>
            <a:ext cx="10690920" cy="67896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t">
            <a:noAutofit/>
          </a:bodyPr>
          <a:p>
            <a:pPr indent="0" defTabSz="914400">
              <a:lnSpc>
                <a:spcPct val="92000"/>
              </a:lnSpc>
              <a:buNone/>
              <a:tabLst>
                <a:tab algn="l" pos="0"/>
              </a:tabLst>
            </a:pPr>
            <a:r>
              <a:rPr b="1" lang="ru-RU" sz="4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Программа мастер-класса</a:t>
            </a:r>
            <a:endParaRPr b="0" lang="ru-RU" sz="4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/>
          </p:nvPr>
        </p:nvSpPr>
        <p:spPr>
          <a:xfrm>
            <a:off x="356040" y="1220400"/>
            <a:ext cx="10690920" cy="528264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t">
            <a:noAutofit/>
          </a:bodyPr>
          <a:p>
            <a:pPr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ru-RU" sz="22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0. Вступление</a:t>
            </a:r>
            <a:endParaRPr b="0" lang="ru-RU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ru-RU" sz="22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1. Что такое SGR Agent Core</a:t>
            </a:r>
            <a:endParaRPr b="0" lang="ru-RU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ru-RU" sz="22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2. Архитектура API сервера</a:t>
            </a:r>
            <a:endParaRPr b="0" lang="ru-RU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ru-RU" sz="22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3. Конфигурация YAML и типы агентов</a:t>
            </a:r>
            <a:endParaRPr b="0" lang="ru-RU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ru-RU" sz="22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4. Подготовка окружения</a:t>
            </a:r>
            <a:endParaRPr b="0" lang="ru-RU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ru-RU" sz="22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5. Практика: Deep Research</a:t>
            </a:r>
            <a:endParaRPr b="0" lang="ru-RU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ru-RU" sz="22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6. Практика: Файловый агент</a:t>
            </a:r>
            <a:endParaRPr b="0" lang="ru-RU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ru-RU" sz="22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7. Метрики, тесты, Langfuse</a:t>
            </a:r>
            <a:endParaRPr b="0" lang="ru-RU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ru-RU" sz="22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8. Домашнее задание</a:t>
            </a:r>
            <a:endParaRPr b="0" lang="ru-RU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ru-RU" sz="22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9. Завершение и Roadmap</a:t>
            </a:r>
            <a:endParaRPr b="0" lang="ru-RU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PlaceHolder 3"/>
          <p:cNvSpPr>
            <a:spLocks noGrp="1"/>
          </p:cNvSpPr>
          <p:nvPr>
            <p:ph type="sldNum" idx="36"/>
          </p:nvPr>
        </p:nvSpPr>
        <p:spPr>
          <a:xfrm>
            <a:off x="11676240" y="388080"/>
            <a:ext cx="156960" cy="25848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ctr">
            <a:normAutofit lnSpcReduction="9999"/>
          </a:bodyPr>
          <a:lstStyle>
            <a:lvl1pPr indent="0" algn="ctr" defTabSz="457200">
              <a:lnSpc>
                <a:spcPct val="100000"/>
              </a:lnSpc>
              <a:buNone/>
              <a:tabLst>
                <a:tab algn="l" pos="0"/>
              </a:tabLst>
              <a:defRPr b="0" lang="ru-RU" sz="1800" strike="noStrike" u="none">
                <a:solidFill>
                  <a:srgbClr val="838383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fld id="{F87D7077-4D51-483A-9F5B-CA78805D4770}" type="slidenum">
              <a:rPr b="0" lang="ru-RU" sz="1800" strike="noStrike" u="none">
                <a:solidFill>
                  <a:srgbClr val="838383"/>
                </a:solidFill>
                <a:effectLst/>
                <a:uFillTx/>
                <a:latin typeface="Arial"/>
                <a:ea typeface="Arial"/>
              </a:rPr>
              <a:t>2</a:t>
            </a:fld>
            <a:endParaRPr b="0" lang="ru-RU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356040" y="219600"/>
            <a:ext cx="10690920" cy="67896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t">
            <a:noAutofit/>
          </a:bodyPr>
          <a:p>
            <a:pPr indent="0" defTabSz="914400">
              <a:lnSpc>
                <a:spcPct val="92000"/>
              </a:lnSpc>
              <a:buNone/>
              <a:tabLst>
                <a:tab algn="l" pos="0"/>
              </a:tabLst>
            </a:pPr>
            <a:r>
              <a:rPr b="1" lang="ru-RU" sz="4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0. Вступление</a:t>
            </a:r>
            <a:endParaRPr b="0" lang="ru-RU" sz="4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 type="sldNum" idx="37"/>
          </p:nvPr>
        </p:nvSpPr>
        <p:spPr>
          <a:xfrm>
            <a:off x="11685240" y="388080"/>
            <a:ext cx="138960" cy="25848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ctr">
            <a:normAutofit lnSpcReduction="9999"/>
          </a:bodyPr>
          <a:lstStyle>
            <a:lvl1pPr indent="0" algn="ctr" defTabSz="457200">
              <a:lnSpc>
                <a:spcPct val="100000"/>
              </a:lnSpc>
              <a:buNone/>
              <a:tabLst>
                <a:tab algn="l" pos="0"/>
              </a:tabLst>
              <a:defRPr b="0" lang="ru-RU" sz="1800" strike="noStrike" u="none">
                <a:solidFill>
                  <a:srgbClr val="838383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fld id="{32FA666C-207C-4AEC-BD30-740C7B66410A}" type="slidenum">
              <a:rPr b="0" lang="ru-RU" sz="1800" strike="noStrike" u="none">
                <a:solidFill>
                  <a:srgbClr val="838383"/>
                </a:solidFill>
                <a:effectLst/>
                <a:uFillTx/>
                <a:latin typeface="Arial"/>
                <a:ea typeface="Arial"/>
              </a:rPr>
              <a:t>3</a:t>
            </a:fld>
            <a:endParaRPr b="0" lang="ru-RU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356040" y="1220400"/>
            <a:ext cx="10690920" cy="491328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t">
            <a:noAutofit/>
          </a:bodyPr>
          <a:p>
            <a:pPr indent="0" defTabSz="914400">
              <a:lnSpc>
                <a:spcPct val="110000"/>
              </a:lnSpc>
              <a:buNone/>
              <a:tabLst>
                <a:tab algn="l" pos="0"/>
              </a:tabLst>
            </a:pPr>
            <a:r>
              <a:rPr b="0" lang="ru-RU" sz="24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Что понадобится:</a:t>
            </a:r>
            <a:endParaRPr b="0" lang="ru-R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10000"/>
              </a:lnSpc>
              <a:buNone/>
              <a:tabLst>
                <a:tab algn="l" pos="0"/>
              </a:tabLst>
            </a:pPr>
            <a:r>
              <a:rPr b="0" lang="ru-RU" sz="24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- Python 3.11+ и/или Docker</a:t>
            </a:r>
            <a:endParaRPr b="0" lang="ru-R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10000"/>
              </a:lnSpc>
              <a:buNone/>
              <a:tabLst>
                <a:tab algn="l" pos="0"/>
              </a:tabLst>
            </a:pPr>
            <a:r>
              <a:rPr b="0" lang="ru-RU" sz="24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- Git</a:t>
            </a:r>
            <a:endParaRPr b="0" lang="ru-R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10000"/>
              </a:lnSpc>
              <a:buNone/>
              <a:tabLst>
                <a:tab algn="l" pos="0"/>
              </a:tabLst>
            </a:pPr>
            <a:r>
              <a:rPr b="0" lang="ru-RU" sz="24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- API-ключ с моделью поддерживающей Sturctured Output</a:t>
            </a:r>
            <a:endParaRPr b="0" lang="ru-R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10000"/>
              </a:lnSpc>
              <a:buNone/>
              <a:tabLst>
                <a:tab algn="l" pos="0"/>
              </a:tabLst>
            </a:pPr>
            <a:r>
              <a:rPr b="0" lang="ru-RU" sz="24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 </a:t>
            </a:r>
            <a:endParaRPr b="0" lang="ru-R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10000"/>
              </a:lnSpc>
              <a:buNone/>
              <a:tabLst>
                <a:tab algn="l" pos="0"/>
              </a:tabLst>
            </a:pPr>
            <a:r>
              <a:rPr b="0" lang="ru-RU" sz="24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Материалы:</a:t>
            </a:r>
            <a:endParaRPr b="0" lang="ru-R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10000"/>
              </a:lnSpc>
              <a:buNone/>
              <a:tabLst>
                <a:tab algn="l" pos="0"/>
              </a:tabLst>
            </a:pPr>
            <a:r>
              <a:rPr b="0" lang="ru-RU" sz="24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- </a:t>
            </a:r>
            <a:r>
              <a:rPr b="0" lang="ru-RU" sz="24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  <a:hlinkClick r:id="rId1"/>
              </a:rPr>
              <a:t>https://github.com/vamplabai/sgr-agent-core</a:t>
            </a:r>
            <a:endParaRPr b="0" lang="ru-R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10000"/>
              </a:lnSpc>
              <a:buNone/>
              <a:tabLst>
                <a:tab algn="l" pos="0"/>
              </a:tabLst>
            </a:pPr>
            <a:r>
              <a:rPr b="0" lang="ru-RU" sz="24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 </a:t>
            </a:r>
            <a:endParaRPr b="0" lang="ru-R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10000"/>
              </a:lnSpc>
              <a:buNone/>
              <a:tabLst>
                <a:tab algn="l" pos="0"/>
              </a:tabLst>
            </a:pPr>
            <a:r>
              <a:rPr b="0" lang="ru-RU" sz="24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По итогу получим:</a:t>
            </a:r>
            <a:endParaRPr b="0" lang="ru-R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10000"/>
              </a:lnSpc>
              <a:buNone/>
              <a:tabLst>
                <a:tab algn="l" pos="0"/>
              </a:tabLst>
            </a:pPr>
            <a:r>
              <a:rPr b="0" lang="ru-RU" sz="24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- локальный файловый агент</a:t>
            </a:r>
            <a:endParaRPr b="0" lang="ru-R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10000"/>
              </a:lnSpc>
              <a:buNone/>
              <a:tabLst>
                <a:tab algn="l" pos="0"/>
              </a:tabLst>
            </a:pPr>
            <a:r>
              <a:rPr b="0" lang="ru-RU" sz="24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- HTTP API</a:t>
            </a:r>
            <a:endParaRPr b="0" lang="ru-R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10000"/>
              </a:lnSpc>
              <a:buNone/>
              <a:tabLst>
                <a:tab algn="l" pos="0"/>
              </a:tabLst>
            </a:pPr>
            <a:r>
              <a:rPr b="0" lang="ru-RU" sz="24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- ACP интегрированный в Obsidian</a:t>
            </a:r>
            <a:endParaRPr b="0" lang="ru-R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356040" y="219600"/>
            <a:ext cx="10690920" cy="67896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t">
            <a:noAutofit/>
          </a:bodyPr>
          <a:p>
            <a:pPr indent="0" defTabSz="914400">
              <a:lnSpc>
                <a:spcPct val="92000"/>
              </a:lnSpc>
              <a:buNone/>
              <a:tabLst>
                <a:tab algn="l" pos="0"/>
              </a:tabLst>
            </a:pPr>
            <a:r>
              <a:rPr b="1" lang="ru-RU" sz="48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1. Что такое SGR Agent Core</a:t>
            </a:r>
            <a:endParaRPr b="0" lang="ru-RU" sz="4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 type="sldNum" idx="38"/>
          </p:nvPr>
        </p:nvSpPr>
        <p:spPr>
          <a:xfrm>
            <a:off x="11685240" y="388080"/>
            <a:ext cx="138960" cy="25848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ctr">
            <a:normAutofit lnSpcReduction="9999"/>
          </a:bodyPr>
          <a:lstStyle>
            <a:lvl1pPr indent="0" algn="ctr" defTabSz="457200">
              <a:lnSpc>
                <a:spcPct val="100000"/>
              </a:lnSpc>
              <a:buNone/>
              <a:tabLst>
                <a:tab algn="l" pos="0"/>
              </a:tabLst>
              <a:defRPr b="0" lang="ru-RU" sz="1800" strike="noStrike" u="none">
                <a:solidFill>
                  <a:srgbClr val="838383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fld id="{EE997DE1-4496-4373-A0C2-47EBCF3B3535}" type="slidenum">
              <a:rPr b="0" lang="ru-RU" sz="1800" strike="noStrike" u="none">
                <a:solidFill>
                  <a:srgbClr val="838383"/>
                </a:solidFill>
                <a:effectLst/>
                <a:uFillTx/>
                <a:latin typeface="Arial"/>
                <a:ea typeface="Arial"/>
              </a:rPr>
              <a:t>4</a:t>
            </a:fld>
            <a:endParaRPr b="0" lang="ru-RU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356040" y="1220400"/>
            <a:ext cx="10690920" cy="491328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t">
            <a:noAutofit/>
          </a:bodyPr>
          <a:p>
            <a:pPr indent="0" defTabSz="914400">
              <a:lnSpc>
                <a:spcPct val="110000"/>
              </a:lnSpc>
              <a:spcBef>
                <a:spcPts val="850"/>
              </a:spcBef>
              <a:buNone/>
              <a:tabLst>
                <a:tab algn="l" pos="0"/>
              </a:tabLst>
            </a:pPr>
            <a:r>
              <a:rPr b="0" lang="ru-RU" sz="24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Schema Guided Reasoning и явные шаги рассуждения</a:t>
            </a:r>
            <a:endParaRPr b="0" lang="ru-R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10000"/>
              </a:lnSpc>
              <a:spcBef>
                <a:spcPts val="850"/>
              </a:spcBef>
              <a:buNone/>
              <a:tabLst>
                <a:tab algn="l" pos="0"/>
              </a:tabLst>
            </a:pPr>
            <a:r>
              <a:rPr b="0" lang="ru-RU" sz="24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Отличие от классического агента: прозрачность vs «чёрный ящик»</a:t>
            </a:r>
            <a:endParaRPr b="0" lang="ru-R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10000"/>
              </a:lnSpc>
              <a:spcBef>
                <a:spcPts val="850"/>
              </a:spcBef>
              <a:buNone/>
              <a:tabLst>
                <a:tab algn="l" pos="0"/>
              </a:tabLst>
            </a:pPr>
            <a:r>
              <a:rPr b="0" lang="ru-RU" sz="24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Фазы: рассуждение -&gt; планирование -&gt; действия -&gt; ответ</a:t>
            </a:r>
            <a:endParaRPr b="0" lang="ru-R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10000"/>
              </a:lnSpc>
              <a:spcBef>
                <a:spcPts val="850"/>
              </a:spcBef>
              <a:buNone/>
              <a:tabLst>
                <a:tab algn="l" pos="0"/>
              </a:tabLst>
            </a:pPr>
            <a:r>
              <a:rPr b="0" lang="ru-RU" sz="24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Прямое использование из Python: AgentConfig + SGRToolCallingAgent</a:t>
            </a:r>
            <a:endParaRPr b="0" lang="ru-R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endParaRPr b="0" lang="ru-R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356400" y="219600"/>
            <a:ext cx="10691280" cy="67896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t">
            <a:noAutofit/>
          </a:bodyPr>
          <a:p>
            <a:pPr indent="0" defTabSz="914400">
              <a:lnSpc>
                <a:spcPct val="92000"/>
              </a:lnSpc>
              <a:buNone/>
              <a:tabLst>
                <a:tab algn="l" pos="0"/>
              </a:tabLst>
            </a:pPr>
            <a:r>
              <a:rPr b="1" lang="ru-RU" sz="48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2. Архитектура API сервера</a:t>
            </a:r>
            <a:endParaRPr b="0" lang="ru-RU" sz="4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PlaceHolder 2"/>
          <p:cNvSpPr>
            <a:spLocks noGrp="1"/>
          </p:cNvSpPr>
          <p:nvPr>
            <p:ph type="sldNum" idx="39"/>
          </p:nvPr>
        </p:nvSpPr>
        <p:spPr>
          <a:xfrm>
            <a:off x="11685600" y="388080"/>
            <a:ext cx="138960" cy="25848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ctr">
            <a:normAutofit lnSpcReduction="9999"/>
          </a:bodyPr>
          <a:lstStyle>
            <a:lvl1pPr indent="0" algn="ctr" defTabSz="457200">
              <a:lnSpc>
                <a:spcPct val="100000"/>
              </a:lnSpc>
              <a:buNone/>
              <a:tabLst>
                <a:tab algn="l" pos="0"/>
              </a:tabLst>
              <a:defRPr b="0" lang="ru-RU" sz="1800" strike="noStrike" u="none">
                <a:solidFill>
                  <a:srgbClr val="838383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fld id="{17E17ED1-D271-4B10-9CF5-E3DF89752405}" type="slidenum">
              <a:rPr b="0" lang="ru-RU" sz="1800" strike="noStrike" u="none">
                <a:solidFill>
                  <a:srgbClr val="838383"/>
                </a:solidFill>
                <a:effectLst/>
                <a:uFillTx/>
                <a:latin typeface="Arial"/>
                <a:ea typeface="Arial"/>
              </a:rPr>
              <a:t>5</a:t>
            </a:fld>
            <a:endParaRPr b="0" lang="ru-RU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" name="PlaceHolder 3"/>
          <p:cNvSpPr>
            <a:spLocks noGrp="1"/>
          </p:cNvSpPr>
          <p:nvPr>
            <p:ph/>
          </p:nvPr>
        </p:nvSpPr>
        <p:spPr>
          <a:xfrm>
            <a:off x="356400" y="1220400"/>
            <a:ext cx="10691280" cy="491328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t">
            <a:noAutofit/>
          </a:bodyPr>
          <a:p>
            <a:pPr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ru-RU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FastAPI сервер с хранилищем агентов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ru-RU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Жизненный цикл агента: создание -&gt; выполнение -&gt; очистка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ru-RU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Stateless vs Stateful режимы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ru-RU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OpenAI-совместимый эндпоинт /v1/chat/completions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ru-RU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Режим Agent Client Protocol (ACP)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356040" y="219600"/>
            <a:ext cx="10690920" cy="67896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t">
            <a:noAutofit/>
          </a:bodyPr>
          <a:p>
            <a:pPr indent="0" defTabSz="914400">
              <a:lnSpc>
                <a:spcPct val="92000"/>
              </a:lnSpc>
              <a:buNone/>
              <a:tabLst>
                <a:tab algn="l" pos="0"/>
              </a:tabLst>
            </a:pPr>
            <a:r>
              <a:rPr b="1" lang="ru-RU" sz="48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3. Конфиг YAML и типы агентов</a:t>
            </a:r>
            <a:endParaRPr b="0" lang="ru-RU" sz="4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PlaceHolder 2"/>
          <p:cNvSpPr>
            <a:spLocks noGrp="1"/>
          </p:cNvSpPr>
          <p:nvPr>
            <p:ph type="sldNum" idx="40"/>
          </p:nvPr>
        </p:nvSpPr>
        <p:spPr>
          <a:xfrm>
            <a:off x="11685240" y="388080"/>
            <a:ext cx="138960" cy="25848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ctr">
            <a:normAutofit lnSpcReduction="9999"/>
          </a:bodyPr>
          <a:lstStyle>
            <a:lvl1pPr indent="0" algn="ctr" defTabSz="457200">
              <a:lnSpc>
                <a:spcPct val="100000"/>
              </a:lnSpc>
              <a:buNone/>
              <a:tabLst>
                <a:tab algn="l" pos="0"/>
              </a:tabLst>
              <a:defRPr b="0" lang="ru-RU" sz="1800" strike="noStrike" u="none">
                <a:solidFill>
                  <a:srgbClr val="838383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fld id="{A7466CA5-99AC-47FB-8D84-55276CD978DD}" type="slidenum">
              <a:rPr b="0" lang="ru-RU" sz="1800" strike="noStrike" u="none">
                <a:solidFill>
                  <a:srgbClr val="838383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b="0" lang="ru-RU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" name="PlaceHolder 3"/>
          <p:cNvSpPr>
            <a:spLocks noGrp="1"/>
          </p:cNvSpPr>
          <p:nvPr>
            <p:ph/>
          </p:nvPr>
        </p:nvSpPr>
        <p:spPr>
          <a:xfrm>
            <a:off x="356040" y="1220400"/>
            <a:ext cx="10690920" cy="491328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t">
            <a:noAutofit/>
          </a:bodyPr>
          <a:p>
            <a:pPr indent="0" defTabSz="914400">
              <a:lnSpc>
                <a:spcPct val="110000"/>
              </a:lnSpc>
              <a:spcBef>
                <a:spcPts val="850"/>
              </a:spcBef>
              <a:buNone/>
              <a:tabLst>
                <a:tab algn="l" pos="0"/>
              </a:tabLst>
            </a:pPr>
            <a:r>
              <a:rPr b="0" lang="ru-RU" sz="28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Иерархия: defaults -&gt; env -&gt; YAML-файл -&gt; минимальные переопределения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10000"/>
              </a:lnSpc>
              <a:spcBef>
                <a:spcPts val="850"/>
              </a:spcBef>
              <a:buNone/>
              <a:tabLst>
                <a:tab algn="l" pos="0"/>
              </a:tabLst>
            </a:pPr>
            <a:r>
              <a:rPr b="0" lang="ru-RU" sz="28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GlobalConfig + AgentDefinition - наследование настроек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10000"/>
              </a:lnSpc>
              <a:spcBef>
                <a:spcPts val="850"/>
              </a:spcBef>
              <a:buNone/>
              <a:tabLst>
                <a:tab algn="l" pos="0"/>
              </a:tabLst>
            </a:pPr>
            <a:r>
              <a:rPr b="0" lang="ru-RU" sz="28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Типы агентов: SGRAgent, ToolCallingAgent, SGRToolCallingAgent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10000"/>
              </a:lnSpc>
              <a:spcBef>
                <a:spcPts val="850"/>
              </a:spcBef>
              <a:buNone/>
              <a:tabLst>
                <a:tab algn="l" pos="0"/>
              </a:tabLst>
            </a:pPr>
            <a:r>
              <a:rPr b="0" lang="ru-RU" sz="28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Пример: llm, toolkit, agent, observability в одном файле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356040" y="219600"/>
            <a:ext cx="10690920" cy="67896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t">
            <a:noAutofit/>
          </a:bodyPr>
          <a:p>
            <a:pPr indent="0" defTabSz="914400">
              <a:lnSpc>
                <a:spcPct val="92000"/>
              </a:lnSpc>
              <a:buNone/>
              <a:tabLst>
                <a:tab algn="l" pos="0"/>
              </a:tabLst>
            </a:pPr>
            <a:r>
              <a:rPr b="1" lang="ru-RU" sz="48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4. Подготовка окружения</a:t>
            </a:r>
            <a:endParaRPr b="0" lang="ru-RU" sz="4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 type="sldNum" idx="41"/>
          </p:nvPr>
        </p:nvSpPr>
        <p:spPr>
          <a:xfrm>
            <a:off x="11685240" y="388080"/>
            <a:ext cx="138960" cy="25848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ctr">
            <a:normAutofit lnSpcReduction="9999"/>
          </a:bodyPr>
          <a:lstStyle>
            <a:lvl1pPr indent="0" algn="ctr" defTabSz="457200">
              <a:lnSpc>
                <a:spcPct val="100000"/>
              </a:lnSpc>
              <a:buNone/>
              <a:tabLst>
                <a:tab algn="l" pos="0"/>
              </a:tabLst>
              <a:defRPr b="0" lang="ru-RU" sz="1800" strike="noStrike" u="none">
                <a:solidFill>
                  <a:srgbClr val="838383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fld id="{41C0EB04-4528-43BE-A7EB-1DEF8CEFD40C}" type="slidenum">
              <a:rPr b="0" lang="ru-RU" sz="1800" strike="noStrike" u="none">
                <a:solidFill>
                  <a:srgbClr val="838383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b="0" lang="ru-RU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3" name="PlaceHolder 3"/>
          <p:cNvSpPr>
            <a:spLocks noGrp="1"/>
          </p:cNvSpPr>
          <p:nvPr>
            <p:ph/>
          </p:nvPr>
        </p:nvSpPr>
        <p:spPr>
          <a:xfrm>
            <a:off x="356040" y="1220400"/>
            <a:ext cx="10690920" cy="491328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t">
            <a:noAutofit/>
          </a:bodyPr>
          <a:p>
            <a:pPr indent="0" defTabSz="914400">
              <a:lnSpc>
                <a:spcPct val="110000"/>
              </a:lnSpc>
              <a:spcBef>
                <a:spcPts val="850"/>
              </a:spcBef>
              <a:buNone/>
              <a:tabLst>
                <a:tab algn="l" pos="0"/>
              </a:tabLst>
            </a:pPr>
            <a:r>
              <a:rPr b="0" lang="ru-RU" sz="28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Вариант 1: Docker -&gt; ghcr.io/vamplabai/sgr-agent-core:latest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10000"/>
              </a:lnSpc>
              <a:spcBef>
                <a:spcPts val="850"/>
              </a:spcBef>
              <a:buNone/>
              <a:tabLst>
                <a:tab algn="l" pos="0"/>
              </a:tabLst>
            </a:pPr>
            <a:r>
              <a:rPr b="0" lang="ru-RU" sz="28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Вариант 2: pip install sgr-agent-core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10000"/>
              </a:lnSpc>
              <a:spcBef>
                <a:spcPts val="850"/>
              </a:spcBef>
              <a:buNone/>
              <a:tabLst>
                <a:tab algn="l" pos="0"/>
              </a:tabLst>
            </a:pPr>
            <a:r>
              <a:rPr b="0" lang="ru-RU" sz="28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Ключи API: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10000"/>
              </a:lnSpc>
              <a:spcBef>
                <a:spcPts val="850"/>
              </a:spcBef>
              <a:buNone/>
              <a:tabLst>
                <a:tab algn="l" pos="0"/>
              </a:tabLst>
            </a:pPr>
            <a:r>
              <a:rPr b="0" lang="ru-RU" sz="28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- OpenAI-совместимое API (обязательно)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10000"/>
              </a:lnSpc>
              <a:spcBef>
                <a:spcPts val="850"/>
              </a:spcBef>
              <a:buNone/>
              <a:tabLst>
                <a:tab algn="l" pos="0"/>
              </a:tabLst>
            </a:pPr>
            <a:r>
              <a:rPr b="0" lang="ru-RU" sz="28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- Tavily (опционально для Deep Research)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10000"/>
              </a:lnSpc>
              <a:spcBef>
                <a:spcPts val="850"/>
              </a:spcBef>
              <a:buNone/>
              <a:tabLst>
                <a:tab algn="l" pos="0"/>
              </a:tabLst>
            </a:pPr>
            <a:r>
              <a:rPr b="0" lang="ru-RU" sz="28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Первая команда: sgr --help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356040" y="219600"/>
            <a:ext cx="10690920" cy="67896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t">
            <a:noAutofit/>
          </a:bodyPr>
          <a:p>
            <a:pPr indent="0" defTabSz="914400">
              <a:lnSpc>
                <a:spcPct val="92000"/>
              </a:lnSpc>
              <a:buNone/>
              <a:tabLst>
                <a:tab algn="l" pos="0"/>
              </a:tabLst>
            </a:pPr>
            <a:r>
              <a:rPr b="1" lang="ru-RU" sz="48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5. Практика: Deep Research</a:t>
            </a:r>
            <a:endParaRPr b="0" lang="ru-RU" sz="4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ldNum" idx="42"/>
          </p:nvPr>
        </p:nvSpPr>
        <p:spPr>
          <a:xfrm>
            <a:off x="11685240" y="388080"/>
            <a:ext cx="138960" cy="25848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ctr">
            <a:normAutofit lnSpcReduction="9999"/>
          </a:bodyPr>
          <a:lstStyle>
            <a:lvl1pPr indent="0" algn="ctr" defTabSz="457200">
              <a:lnSpc>
                <a:spcPct val="100000"/>
              </a:lnSpc>
              <a:buNone/>
              <a:tabLst>
                <a:tab algn="l" pos="0"/>
              </a:tabLst>
              <a:defRPr b="0" lang="ru-RU" sz="1800" strike="noStrike" u="none">
                <a:solidFill>
                  <a:srgbClr val="838383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fld id="{D5F3D156-5BC8-4C69-BE80-A9C639F66B74}" type="slidenum">
              <a:rPr b="0" lang="ru-RU" sz="1800" strike="noStrike" u="none">
                <a:solidFill>
                  <a:srgbClr val="838383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b="0" lang="ru-RU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" name="PlaceHolder 3"/>
          <p:cNvSpPr>
            <a:spLocks noGrp="1"/>
          </p:cNvSpPr>
          <p:nvPr>
            <p:ph/>
          </p:nvPr>
        </p:nvSpPr>
        <p:spPr>
          <a:xfrm>
            <a:off x="356040" y="1220400"/>
            <a:ext cx="10690920" cy="491328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t">
            <a:noAutofit/>
          </a:bodyPr>
          <a:p>
            <a:pPr indent="0" defTabSz="914400">
              <a:lnSpc>
                <a:spcPct val="110000"/>
              </a:lnSpc>
              <a:spcBef>
                <a:spcPts val="850"/>
              </a:spcBef>
              <a:buNone/>
              <a:tabLst>
                <a:tab algn="l" pos="0"/>
              </a:tabLst>
            </a:pPr>
            <a:r>
              <a:rPr b="0" lang="ru-RU" sz="28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Набор тулов: план -&gt; поиск Tavily -&gt; извлечение -&gt; ответ -&gt; генерация отчета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10000"/>
              </a:lnSpc>
              <a:spcBef>
                <a:spcPts val="850"/>
              </a:spcBef>
              <a:buNone/>
              <a:tabLst>
                <a:tab algn="l" pos="0"/>
              </a:tabLst>
            </a:pPr>
            <a:r>
              <a:rPr b="0" lang="ru-RU" sz="28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Пайплайн SGR: прозрачность каждого шага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10000"/>
              </a:lnSpc>
              <a:spcBef>
                <a:spcPts val="850"/>
              </a:spcBef>
              <a:buNone/>
              <a:tabLst>
                <a:tab algn="l" pos="0"/>
              </a:tabLst>
            </a:pPr>
            <a:r>
              <a:rPr b="0" lang="ru-RU" sz="28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Где смотреть: logs/ и reports/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10000"/>
              </a:lnSpc>
              <a:spcBef>
                <a:spcPts val="850"/>
              </a:spcBef>
              <a:buNone/>
              <a:tabLst>
                <a:tab algn="l" pos="0"/>
              </a:tabLst>
            </a:pPr>
            <a:r>
              <a:rPr b="0" lang="ru-RU" sz="28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Пример запроса через curl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title"/>
          </p:nvPr>
        </p:nvSpPr>
        <p:spPr>
          <a:xfrm>
            <a:off x="507240" y="612720"/>
            <a:ext cx="8276400" cy="135828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t">
            <a:no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6000" strike="noStrike" u="none">
                <a:solidFill>
                  <a:schemeClr val="lt1"/>
                </a:solidFill>
                <a:effectLst/>
                <a:uFillTx/>
                <a:latin typeface="Calibri"/>
                <a:ea typeface="Arial"/>
              </a:rPr>
              <a:t>SGR Agent Core</a:t>
            </a:r>
            <a:br>
              <a:rPr sz="6000"/>
            </a:br>
            <a:r>
              <a:rPr b="1" lang="en-US" sz="6000" strike="noStrike" u="none">
                <a:solidFill>
                  <a:schemeClr val="lt1"/>
                </a:solidFill>
                <a:effectLst/>
                <a:uFillTx/>
                <a:latin typeface="Calibri"/>
                <a:ea typeface="Arial"/>
              </a:rPr>
              <a:t>Мастер-класс</a:t>
            </a:r>
            <a:endParaRPr b="0" lang="ru-RU" sz="6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" name="PlaceHolder 2"/>
          <p:cNvSpPr>
            <a:spLocks noGrp="1"/>
          </p:cNvSpPr>
          <p:nvPr>
            <p:ph/>
          </p:nvPr>
        </p:nvSpPr>
        <p:spPr>
          <a:xfrm>
            <a:off x="507240" y="2700000"/>
            <a:ext cx="8276400" cy="143748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t">
            <a:noAutofit/>
          </a:bodyPr>
          <a:p>
            <a:pPr indent="0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Перерыв 10-15 минут</a:t>
            </a:r>
            <a:endParaRPr b="0" lang="ru-RU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356040" y="219600"/>
            <a:ext cx="10690920" cy="67896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t">
            <a:noAutofit/>
          </a:bodyPr>
          <a:p>
            <a:pPr indent="0" defTabSz="914400">
              <a:lnSpc>
                <a:spcPct val="92000"/>
              </a:lnSpc>
              <a:buNone/>
              <a:tabLst>
                <a:tab algn="l" pos="0"/>
              </a:tabLst>
            </a:pPr>
            <a:r>
              <a:rPr b="1" lang="ru-RU" sz="48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6. Практика: Файловый агент</a:t>
            </a:r>
            <a:endParaRPr b="0" lang="ru-RU" sz="4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PlaceHolder 2"/>
          <p:cNvSpPr>
            <a:spLocks noGrp="1"/>
          </p:cNvSpPr>
          <p:nvPr>
            <p:ph type="sldNum" idx="43"/>
          </p:nvPr>
        </p:nvSpPr>
        <p:spPr>
          <a:xfrm>
            <a:off x="11685240" y="388080"/>
            <a:ext cx="138960" cy="25848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ctr">
            <a:norm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algn="l" pos="0"/>
              </a:tabLst>
              <a:defRPr b="0" lang="ru-RU" sz="800" strike="noStrike" u="none">
                <a:solidFill>
                  <a:srgbClr val="838383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fld id="{33FBAF16-83D0-4845-A5EA-771AECD6880A}" type="slidenum">
              <a:rPr b="0" lang="ru-RU" sz="800" strike="noStrike" u="none">
                <a:solidFill>
                  <a:srgbClr val="838383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b="0" lang="ru-RU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" name="PlaceHolder 3"/>
          <p:cNvSpPr>
            <a:spLocks noGrp="1"/>
          </p:cNvSpPr>
          <p:nvPr>
            <p:ph/>
          </p:nvPr>
        </p:nvSpPr>
        <p:spPr>
          <a:xfrm>
            <a:off x="356040" y="1220400"/>
            <a:ext cx="10690920" cy="491328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t">
            <a:noAutofit/>
          </a:bodyPr>
          <a:p>
            <a:pPr indent="0" defTabSz="914400">
              <a:lnSpc>
                <a:spcPct val="110000"/>
              </a:lnSpc>
              <a:spcBef>
                <a:spcPts val="850"/>
              </a:spcBef>
              <a:buNone/>
              <a:tabLst>
                <a:tab algn="l" pos="0"/>
              </a:tabLst>
            </a:pPr>
            <a:r>
              <a:rPr b="0" lang="ru-RU" sz="28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Тулы из examples/sgr_file_agent: list, read, grep, find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10000"/>
              </a:lnSpc>
              <a:spcBef>
                <a:spcPts val="850"/>
              </a:spcBef>
              <a:buNone/>
              <a:tabLst>
                <a:tab algn="l" pos="0"/>
              </a:tabLst>
            </a:pPr>
            <a:r>
              <a:rPr b="0" lang="ru-RU" sz="28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Четыре режима работы: agent, ask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10000"/>
              </a:lnSpc>
              <a:spcBef>
                <a:spcPts val="850"/>
              </a:spcBef>
              <a:buNone/>
              <a:tabLst>
                <a:tab algn="l" pos="0"/>
              </a:tabLst>
            </a:pPr>
            <a:r>
              <a:rPr b="0" lang="ru-RU" sz="28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HTTP API с gpt-oss 120b: llm.base_url + model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10000"/>
              </a:lnSpc>
              <a:spcBef>
                <a:spcPts val="850"/>
              </a:spcBef>
              <a:buNone/>
              <a:tabLst>
                <a:tab algn="l" pos="0"/>
              </a:tabLst>
            </a:pPr>
            <a:r>
              <a:rPr b="0" lang="ru-RU" sz="28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ACP и Obsidian Agent Client: sgracp stdio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356040" y="219600"/>
            <a:ext cx="10690920" cy="67896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t">
            <a:noAutofit/>
          </a:bodyPr>
          <a:p>
            <a:pPr indent="0" defTabSz="914400">
              <a:lnSpc>
                <a:spcPct val="92000"/>
              </a:lnSpc>
              <a:buNone/>
              <a:tabLst>
                <a:tab algn="l" pos="0"/>
              </a:tabLst>
            </a:pPr>
            <a:r>
              <a:rPr b="1" lang="ru-RU" sz="48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7. Метрики, тесты, Langfuse</a:t>
            </a:r>
            <a:endParaRPr b="0" lang="ru-RU" sz="4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 type="sldNum" idx="44"/>
          </p:nvPr>
        </p:nvSpPr>
        <p:spPr>
          <a:xfrm>
            <a:off x="11685240" y="388080"/>
            <a:ext cx="138960" cy="25848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ctr">
            <a:norm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algn="l" pos="0"/>
              </a:tabLst>
              <a:defRPr b="0" lang="ru-RU" sz="800" strike="noStrike" u="none">
                <a:solidFill>
                  <a:srgbClr val="838383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fld id="{014CDBBC-E76F-4A5A-870C-1C7EFEA64A9C}" type="slidenum">
              <a:rPr b="0" lang="ru-RU" sz="800" strike="noStrike" u="none">
                <a:solidFill>
                  <a:srgbClr val="838383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b="0" lang="ru-RU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" name="PlaceHolder 3"/>
          <p:cNvSpPr>
            <a:spLocks noGrp="1"/>
          </p:cNvSpPr>
          <p:nvPr>
            <p:ph/>
          </p:nvPr>
        </p:nvSpPr>
        <p:spPr>
          <a:xfrm>
            <a:off x="356040" y="1220400"/>
            <a:ext cx="10690920" cy="491328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t">
            <a:noAutofit/>
          </a:bodyPr>
          <a:p>
            <a:pPr indent="0" defTabSz="914400">
              <a:lnSpc>
                <a:spcPct val="110000"/>
              </a:lnSpc>
              <a:spcBef>
                <a:spcPts val="850"/>
              </a:spcBef>
              <a:buNone/>
              <a:tabLst>
                <a:tab algn="l" pos="0"/>
              </a:tabLst>
            </a:pPr>
            <a:r>
              <a:rPr b="0" lang="ru-RU" sz="28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Уровни тестирования: тулы -&gt; интеграция -&gt; end-to-end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10000"/>
              </a:lnSpc>
              <a:spcBef>
                <a:spcPts val="850"/>
              </a:spcBef>
              <a:buNone/>
              <a:tabLst>
                <a:tab algn="l" pos="0"/>
              </a:tabLst>
            </a:pPr>
            <a:r>
              <a:rPr b="0" lang="ru-RU" sz="28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Метрики: precision/recall файлов, completeness ответа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10000"/>
              </a:lnSpc>
              <a:spcBef>
                <a:spcPts val="850"/>
              </a:spcBef>
              <a:buNone/>
              <a:tabLst>
                <a:tab algn="l" pos="0"/>
              </a:tabLst>
            </a:pPr>
            <a:r>
              <a:rPr b="0" lang="ru-RU" sz="28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Langfuse для трассировки шагов SGR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10000"/>
              </a:lnSpc>
              <a:spcBef>
                <a:spcPts val="850"/>
              </a:spcBef>
              <a:buNone/>
              <a:tabLst>
                <a:tab algn="l" pos="0"/>
              </a:tabLst>
            </a:pPr>
            <a:r>
              <a:rPr b="0" lang="ru-RU" sz="28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Регрессии при смене модели - как ловить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356040" y="219600"/>
            <a:ext cx="10690920" cy="67896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t">
            <a:noAutofit/>
          </a:bodyPr>
          <a:p>
            <a:pPr indent="0" defTabSz="914400">
              <a:lnSpc>
                <a:spcPct val="92000"/>
              </a:lnSpc>
              <a:buNone/>
              <a:tabLst>
                <a:tab algn="l" pos="0"/>
              </a:tabLst>
            </a:pPr>
            <a:r>
              <a:rPr b="1" lang="ru-RU" sz="48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8. Домашнее задание</a:t>
            </a:r>
            <a:endParaRPr b="0" lang="ru-RU" sz="4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PlaceHolder 2"/>
          <p:cNvSpPr>
            <a:spLocks noGrp="1"/>
          </p:cNvSpPr>
          <p:nvPr>
            <p:ph type="sldNum" idx="45"/>
          </p:nvPr>
        </p:nvSpPr>
        <p:spPr>
          <a:xfrm>
            <a:off x="11685240" y="388080"/>
            <a:ext cx="138960" cy="25848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ctr">
            <a:norm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algn="l" pos="0"/>
              </a:tabLst>
              <a:defRPr b="0" lang="ru-RU" sz="800" strike="noStrike" u="none">
                <a:solidFill>
                  <a:srgbClr val="838383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fld id="{537EA5C5-9443-41D9-A073-1B7F9FA67586}" type="slidenum">
              <a:rPr b="0" lang="ru-RU" sz="800" strike="noStrike" u="none">
                <a:solidFill>
                  <a:srgbClr val="838383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b="0" lang="ru-RU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7" name="PlaceHolder 3"/>
          <p:cNvSpPr>
            <a:spLocks noGrp="1"/>
          </p:cNvSpPr>
          <p:nvPr>
            <p:ph/>
          </p:nvPr>
        </p:nvSpPr>
        <p:spPr>
          <a:xfrm>
            <a:off x="356040" y="1220400"/>
            <a:ext cx="10690920" cy="491328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t">
            <a:noAutofit/>
          </a:bodyPr>
          <a:p>
            <a:pPr indent="0" defTabSz="914400">
              <a:lnSpc>
                <a:spcPct val="110000"/>
              </a:lnSpc>
              <a:spcBef>
                <a:spcPts val="850"/>
              </a:spcBef>
              <a:buNone/>
              <a:tabLst>
                <a:tab algn="l" pos="0"/>
              </a:tabLst>
            </a:pPr>
            <a:r>
              <a:rPr b="0" lang="ru-RU" sz="28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Вариант А: запустить Deep Research на своей теме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10000"/>
              </a:lnSpc>
              <a:spcBef>
                <a:spcPts val="850"/>
              </a:spcBef>
              <a:buNone/>
              <a:tabLst>
                <a:tab algn="l" pos="0"/>
              </a:tabLst>
            </a:pPr>
            <a:r>
              <a:rPr b="0" lang="ru-RU" sz="28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Вариант Б: файловый агент на своём vault с 3+ тестами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10000"/>
              </a:lnSpc>
              <a:spcBef>
                <a:spcPts val="850"/>
              </a:spcBef>
              <a:buNone/>
              <a:tabLst>
                <a:tab algn="l" pos="0"/>
              </a:tabLst>
            </a:pPr>
            <a:r>
              <a:rPr b="0" lang="ru-RU" sz="28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Вариант В: интеграция с VS Code ACP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10000"/>
              </a:lnSpc>
              <a:spcBef>
                <a:spcPts val="850"/>
              </a:spcBef>
              <a:buNone/>
              <a:tabLst>
                <a:tab algn="l" pos="0"/>
              </a:tabLst>
            </a:pPr>
            <a:r>
              <a:rPr b="0" lang="ru-RU" sz="28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Что проверить: воспроизводимость, метрики, документация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356040" y="219600"/>
            <a:ext cx="10690920" cy="67896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t">
            <a:noAutofit/>
          </a:bodyPr>
          <a:p>
            <a:pPr indent="0" defTabSz="914400">
              <a:lnSpc>
                <a:spcPct val="92000"/>
              </a:lnSpc>
              <a:buNone/>
              <a:tabLst>
                <a:tab algn="l" pos="0"/>
              </a:tabLst>
            </a:pPr>
            <a:r>
              <a:rPr b="1" lang="ru-RU" sz="48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9. Завершение и Roadmap</a:t>
            </a:r>
            <a:endParaRPr b="0" lang="ru-RU" sz="4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 type="sldNum" idx="46"/>
          </p:nvPr>
        </p:nvSpPr>
        <p:spPr>
          <a:xfrm>
            <a:off x="11685240" y="388080"/>
            <a:ext cx="138960" cy="25848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ctr">
            <a:norm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algn="l" pos="0"/>
              </a:tabLst>
              <a:defRPr b="0" lang="ru-RU" sz="800" strike="noStrike" u="none">
                <a:solidFill>
                  <a:srgbClr val="838383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fld id="{8110C434-B3C3-454D-847B-07341E1223DF}" type="slidenum">
              <a:rPr b="0" lang="ru-RU" sz="800" strike="noStrike" u="none">
                <a:solidFill>
                  <a:srgbClr val="838383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b="0" lang="ru-RU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0" name="PlaceHolder 3"/>
          <p:cNvSpPr>
            <a:spLocks noGrp="1"/>
          </p:cNvSpPr>
          <p:nvPr>
            <p:ph/>
          </p:nvPr>
        </p:nvSpPr>
        <p:spPr>
          <a:xfrm>
            <a:off x="356040" y="1220400"/>
            <a:ext cx="10690920" cy="491328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t">
            <a:noAutofit/>
          </a:bodyPr>
          <a:p>
            <a:pPr indent="0" defTabSz="914400">
              <a:lnSpc>
                <a:spcPct val="110000"/>
              </a:lnSpc>
              <a:spcBef>
                <a:spcPts val="850"/>
              </a:spcBef>
              <a:buNone/>
              <a:tabLst>
                <a:tab algn="l" pos="0"/>
              </a:tabLst>
            </a:pPr>
            <a:r>
              <a:rPr b="0" lang="ru-RU" sz="28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Резюме: сервер -&gt; модель -&gt; ACP -&gt; Obsidian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10000"/>
              </a:lnSpc>
              <a:spcBef>
                <a:spcPts val="850"/>
              </a:spcBef>
              <a:buNone/>
              <a:tabLst>
                <a:tab algn="l" pos="0"/>
              </a:tabLst>
            </a:pPr>
            <a:r>
              <a:rPr b="0" lang="ru-RU" sz="28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Roadmap: тулы записи, MCP серверы, прод-политики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10000"/>
              </a:lnSpc>
              <a:spcBef>
                <a:spcPts val="850"/>
              </a:spcBef>
              <a:buNone/>
              <a:tabLst>
                <a:tab algn="l" pos="0"/>
              </a:tabLst>
            </a:pPr>
            <a:r>
              <a:rPr b="0" lang="ru-RU" sz="28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Шпаргалка по командам: клонирование, запуск, тесты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10000"/>
              </a:lnSpc>
              <a:spcBef>
                <a:spcPts val="850"/>
              </a:spcBef>
              <a:buNone/>
              <a:tabLst>
                <a:tab algn="l" pos="0"/>
              </a:tabLst>
            </a:pPr>
            <a:r>
              <a:rPr b="0" lang="ru-RU" sz="28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Q&amp;A и обсуждение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884880" y="1041120"/>
            <a:ext cx="5839920" cy="169812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ctr">
            <a:no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6000" strike="noStrike" u="none">
                <a:solidFill>
                  <a:schemeClr val="lt1"/>
                </a:solidFill>
                <a:effectLst/>
                <a:uFillTx/>
                <a:latin typeface="Calibri"/>
                <a:ea typeface="Arial"/>
              </a:rPr>
              <a:t>SGR Agent Core</a:t>
            </a:r>
            <a:br>
              <a:rPr sz="6000"/>
            </a:br>
            <a:r>
              <a:rPr b="1" lang="en-US" sz="6000" strike="noStrike" u="none">
                <a:solidFill>
                  <a:schemeClr val="lt1"/>
                </a:solidFill>
                <a:effectLst/>
                <a:uFillTx/>
                <a:latin typeface="Calibri"/>
                <a:ea typeface="Arial"/>
              </a:rPr>
              <a:t>Мастер-класс</a:t>
            </a:r>
            <a:endParaRPr b="0" lang="ru-RU" sz="6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2" name="PlaceHolder 2"/>
          <p:cNvSpPr>
            <a:spLocks noGrp="1"/>
          </p:cNvSpPr>
          <p:nvPr>
            <p:ph/>
          </p:nvPr>
        </p:nvSpPr>
        <p:spPr>
          <a:xfrm>
            <a:off x="884880" y="3318840"/>
            <a:ext cx="5839920" cy="130716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1417"/>
              </a:spcBef>
              <a:buNone/>
            </a:pPr>
            <a:r>
              <a:rPr b="0" lang="ru-RU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Спасибо за внимание!</a:t>
            </a:r>
            <a:endParaRPr b="0" lang="ru-RU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13" name="Рисунок 2" descr="Рисунок 3"/>
          <p:cNvPicPr/>
          <p:nvPr/>
        </p:nvPicPr>
        <p:blipFill>
          <a:blip r:embed="rId1"/>
          <a:stretch/>
        </p:blipFill>
        <p:spPr>
          <a:xfrm>
            <a:off x="8962560" y="839880"/>
            <a:ext cx="2101680" cy="21016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f98d7e"/>
      </a:accent1>
      <a:accent2>
        <a:srgbClr val="4fbafc"/>
      </a:accent2>
      <a:accent3>
        <a:srgbClr val="92df70"/>
      </a:accent3>
      <a:accent4>
        <a:srgbClr val="fee170"/>
      </a:accent4>
      <a:accent5>
        <a:srgbClr val="67ebda"/>
      </a:accent5>
      <a:accent6>
        <a:srgbClr val="f876b8"/>
      </a:accent6>
      <a:hlink>
        <a:srgbClr val="0000ff"/>
      </a:hlink>
      <a:folHlink>
        <a:srgbClr val="ff00ff"/>
      </a:folHlink>
    </a:clrScheme>
    <a:fontScheme name="Office Theme">
      <a:majorFont>
        <a:latin typeface="Arial" pitchFamily="0" charset="1"/>
        <a:ea typeface="Arial" pitchFamily="0" charset="1"/>
        <a:cs typeface="Arial" pitchFamily="0" charset="1"/>
      </a:majorFont>
      <a:minorFont>
        <a:latin typeface="Helvetica" pitchFamily="0" charset="1"/>
        <a:ea typeface="Helvetica" pitchFamily="0" charset="1"/>
        <a:cs typeface="Helvetica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</TotalTime>
  <Application>LibreOffice/25.2.3.2$Linux_X86_64 LibreOffice_project/520$Build-2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ru-RU</dc:language>
  <cp:lastModifiedBy/>
  <dcterms:modified xsi:type="dcterms:W3CDTF">2026-04-08T04:48:35Z</dcterms:modified>
  <cp:revision>4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